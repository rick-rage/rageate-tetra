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4"/>
  </p:sldMasterIdLst>
  <p:notesMasterIdLst>
    <p:notesMasterId r:id="rId11"/>
  </p:notesMasterIdLst>
  <p:sldIdLst>
    <p:sldId id="305" r:id="rId5"/>
    <p:sldId id="307" r:id="rId6"/>
    <p:sldId id="309" r:id="rId7"/>
    <p:sldId id="308" r:id="rId8"/>
    <p:sldId id="30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32A1E7-BBFA-0C67-99C5-E656A2259058}" name="Scott MacIntosh" initials="SM" userId="S::scottm@ragesystems.com::4ab535da-9fb0-4dda-9ee3-5e926c2060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DB7"/>
    <a:srgbClr val="951C20"/>
    <a:srgbClr val="951D1F"/>
    <a:srgbClr val="000000"/>
    <a:srgbClr val="B6B7B7"/>
    <a:srgbClr val="AA0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6"/>
  </p:normalViewPr>
  <p:slideViewPr>
    <p:cSldViewPr snapToGrid="0">
      <p:cViewPr varScale="1">
        <p:scale>
          <a:sx n="106" d="100"/>
          <a:sy n="106" d="100"/>
        </p:scale>
        <p:origin x="792" y="4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A8C86-7DB5-1044-86CF-EB558700829C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A196B-010F-EE4C-9B1F-AF3F827E3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79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microsoft.com/office/2007/relationships/hdphoto" Target="../media/hdphoto7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11" Type="http://schemas.microsoft.com/office/2007/relationships/hdphoto" Target="../media/hdphoto6.wdp"/><Relationship Id="rId5" Type="http://schemas.openxmlformats.org/officeDocument/2006/relationships/image" Target="../media/image4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46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8">
            <a:extLst>
              <a:ext uri="{FF2B5EF4-FFF2-40B4-BE49-F238E27FC236}">
                <a16:creationId xmlns:a16="http://schemas.microsoft.com/office/drawing/2014/main" id="{0486B7EC-8BE7-750D-64CE-CFB29B928704}"/>
              </a:ext>
            </a:extLst>
          </p:cNvPr>
          <p:cNvSpPr/>
          <p:nvPr userDrawn="1"/>
        </p:nvSpPr>
        <p:spPr>
          <a:xfrm rot="18900000">
            <a:off x="-878905" y="-200176"/>
            <a:ext cx="2743200" cy="1371600"/>
          </a:xfrm>
          <a:prstGeom prst="triangle">
            <a:avLst/>
          </a:prstGeom>
          <a:solidFill>
            <a:srgbClr val="951D1F"/>
          </a:solidFill>
          <a:ln>
            <a:solidFill>
              <a:srgbClr val="951C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0E0E2B13-0836-3622-2F11-7629FA9A5205}"/>
              </a:ext>
            </a:extLst>
          </p:cNvPr>
          <p:cNvSpPr/>
          <p:nvPr userDrawn="1"/>
        </p:nvSpPr>
        <p:spPr>
          <a:xfrm rot="18900000" flipH="1" flipV="1">
            <a:off x="10338019" y="5678501"/>
            <a:ext cx="2743200" cy="1371600"/>
          </a:xfrm>
          <a:prstGeom prst="triangle">
            <a:avLst/>
          </a:prstGeom>
          <a:solidFill>
            <a:srgbClr val="006D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6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136525"/>
            <a:ext cx="11617960" cy="6356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904240"/>
            <a:ext cx="11612880" cy="5086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6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136525"/>
            <a:ext cx="11617960" cy="6175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860425"/>
            <a:ext cx="5572760" cy="500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740" y="860425"/>
            <a:ext cx="5572760" cy="500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03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1"/>
            <a:ext cx="11617960" cy="762000"/>
          </a:xfrm>
          <a:noFill/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785719"/>
            <a:ext cx="5816600" cy="2643281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>
              <a:defRPr sz="2200"/>
            </a:lvl1pPr>
            <a:lvl2pPr marL="458788" indent="-230188">
              <a:tabLst/>
              <a:defRPr sz="1800"/>
            </a:lvl2pPr>
            <a:lvl3pPr marL="688975" indent="-230188">
              <a:tabLst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785719"/>
            <a:ext cx="5796280" cy="2643281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 sz="2200"/>
            </a:lvl1pPr>
            <a:lvl2pPr marL="458788" indent="-230188">
              <a:tabLst/>
              <a:defRPr sz="1800"/>
            </a:lvl2pPr>
            <a:lvl3pPr marL="688975" indent="-230188">
              <a:tabLst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AE4DFCA-6F0E-3CFA-F5E7-AE6D536D818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75814" y="3452719"/>
            <a:ext cx="5816600" cy="2546945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>
              <a:defRPr sz="2200"/>
            </a:lvl1pPr>
            <a:lvl2pPr marL="458788" indent="-230188">
              <a:tabLst/>
              <a:defRPr sz="1800"/>
            </a:lvl2pPr>
            <a:lvl3pPr marL="688975" indent="-230188">
              <a:tabLst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766CF9F-44EC-1696-279E-784DAF57F02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2414" y="3452719"/>
            <a:ext cx="5796280" cy="254694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 sz="2200"/>
            </a:lvl1pPr>
            <a:lvl2pPr marL="458788" indent="-230188">
              <a:tabLst/>
              <a:defRPr sz="1800"/>
            </a:lvl2pPr>
            <a:lvl3pPr marL="688975" indent="-230188">
              <a:tabLst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18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4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9242" y="6409111"/>
            <a:ext cx="3054864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74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3F1F96-E8D4-DA34-9B69-2BAEC7D700F2}"/>
              </a:ext>
            </a:extLst>
          </p:cNvPr>
          <p:cNvSpPr/>
          <p:nvPr userDrawn="1"/>
        </p:nvSpPr>
        <p:spPr>
          <a:xfrm>
            <a:off x="0" y="4643120"/>
            <a:ext cx="12192000" cy="221488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A24E2D1-100A-39F4-43A6-1FB6B7DDCA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8827" y="5212080"/>
            <a:ext cx="3874347" cy="1076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E15D9-4787-2E27-4932-018857FA96EF}"/>
              </a:ext>
            </a:extLst>
          </p:cNvPr>
          <p:cNvSpPr txBox="1"/>
          <p:nvPr userDrawn="1"/>
        </p:nvSpPr>
        <p:spPr>
          <a:xfrm>
            <a:off x="3488267" y="590689"/>
            <a:ext cx="5215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spc="500" baseline="0">
                <a:latin typeface="Impact" panose="020B0806030902050204" pitchFamily="34" charset="0"/>
              </a:rPr>
              <a:t>GET IN TOUCH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2152DD-6833-FDE8-8ED2-7EF54E7930CC}"/>
              </a:ext>
            </a:extLst>
          </p:cNvPr>
          <p:cNvCxnSpPr/>
          <p:nvPr userDrawn="1"/>
        </p:nvCxnSpPr>
        <p:spPr>
          <a:xfrm>
            <a:off x="3488267" y="1432560"/>
            <a:ext cx="5215467" cy="0"/>
          </a:xfrm>
          <a:prstGeom prst="line">
            <a:avLst/>
          </a:prstGeom>
          <a:ln w="57150">
            <a:solidFill>
              <a:srgbClr val="951C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2A4E2D-BBA0-BC55-0EFC-A76F0F59F986}"/>
              </a:ext>
            </a:extLst>
          </p:cNvPr>
          <p:cNvSpPr txBox="1"/>
          <p:nvPr userDrawn="1"/>
        </p:nvSpPr>
        <p:spPr>
          <a:xfrm>
            <a:off x="2817707" y="2154095"/>
            <a:ext cx="2573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100" baseline="0">
                <a:latin typeface="Impact" panose="020B0806030902050204" pitchFamily="34" charset="0"/>
              </a:rPr>
              <a:t>EMAIL</a:t>
            </a:r>
          </a:p>
          <a:p>
            <a:r>
              <a:rPr lang="en-US" sz="110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Info@RaGESystems.com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9D4FF-710B-067D-26AA-07D2CE2FC17C}"/>
              </a:ext>
            </a:extLst>
          </p:cNvPr>
          <p:cNvSpPr txBox="1"/>
          <p:nvPr userDrawn="1"/>
        </p:nvSpPr>
        <p:spPr>
          <a:xfrm>
            <a:off x="2817707" y="2998670"/>
            <a:ext cx="1943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100" baseline="0">
                <a:latin typeface="Impact" panose="020B0806030902050204" pitchFamily="34" charset="0"/>
              </a:rPr>
              <a:t>PHONE</a:t>
            </a:r>
          </a:p>
          <a:p>
            <a:r>
              <a:rPr lang="en-US" sz="1100" b="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+1 (978) 941-4900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9A764-ECDD-3B83-BFF0-6E647A782FA3}"/>
              </a:ext>
            </a:extLst>
          </p:cNvPr>
          <p:cNvSpPr txBox="1"/>
          <p:nvPr userDrawn="1"/>
        </p:nvSpPr>
        <p:spPr>
          <a:xfrm>
            <a:off x="7437120" y="3857074"/>
            <a:ext cx="1652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100" baseline="0">
                <a:latin typeface="Impact" panose="020B0806030902050204" pitchFamily="34" charset="0"/>
              </a:rPr>
              <a:t>LINKEDIN</a:t>
            </a:r>
          </a:p>
          <a:p>
            <a:r>
              <a:rPr lang="en-US" sz="1100" b="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RaGE Systems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46073-A6A7-E734-3D5A-692F4DA8EB28}"/>
              </a:ext>
            </a:extLst>
          </p:cNvPr>
          <p:cNvSpPr txBox="1"/>
          <p:nvPr userDrawn="1"/>
        </p:nvSpPr>
        <p:spPr>
          <a:xfrm>
            <a:off x="7437120" y="2154095"/>
            <a:ext cx="28041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100" baseline="0">
                <a:latin typeface="Impact" panose="020B0806030902050204" pitchFamily="34" charset="0"/>
              </a:rPr>
              <a:t>HQ &amp; DEVELOPMENT</a:t>
            </a:r>
          </a:p>
          <a:p>
            <a:r>
              <a:rPr lang="en-US" sz="110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175 Cabot St., Suite 315</a:t>
            </a:r>
          </a:p>
          <a:p>
            <a:r>
              <a:rPr lang="en-US" sz="110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Lowell, MA. 01854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AE1461-35D3-32EB-B5E5-919BECF49FB2}"/>
              </a:ext>
            </a:extLst>
          </p:cNvPr>
          <p:cNvSpPr txBox="1"/>
          <p:nvPr userDrawn="1"/>
        </p:nvSpPr>
        <p:spPr>
          <a:xfrm>
            <a:off x="7437120" y="2995168"/>
            <a:ext cx="28041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100" baseline="0">
                <a:latin typeface="Impact" panose="020B0806030902050204" pitchFamily="34" charset="0"/>
              </a:rPr>
              <a:t>PRODUCTION</a:t>
            </a:r>
          </a:p>
          <a:p>
            <a:r>
              <a:rPr lang="en-US" sz="110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65 Parker St., Unit 10</a:t>
            </a:r>
          </a:p>
          <a:p>
            <a:r>
              <a:rPr lang="en-US" sz="1100" spc="100" baseline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Newburyport, MA. 01950</a:t>
            </a:r>
          </a:p>
        </p:txBody>
      </p:sp>
      <p:pic>
        <p:nvPicPr>
          <p:cNvPr id="16" name="Picture 4" descr="Phone Email Location Icon Vector Art, Icons, and Graphics for Free Download">
            <a:extLst>
              <a:ext uri="{FF2B5EF4-FFF2-40B4-BE49-F238E27FC236}">
                <a16:creationId xmlns:a16="http://schemas.microsoft.com/office/drawing/2014/main" id="{D7C3716F-7610-2DE8-13D3-49B324DB1D2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50" b="89971" l="0" r="100000">
                        <a14:foregroundMark x1="59420" y1="60472" x2="37319" y2="37168"/>
                        <a14:foregroundMark x1="37319" y1="37168" x2="57246" y2="34513"/>
                        <a14:foregroundMark x1="44203" y1="8850" x2="59420" y2="94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59093" y="3856855"/>
            <a:ext cx="772160" cy="70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hone Email Location Icon Vector Art, Icons, and Graphics for Free Download">
            <a:extLst>
              <a:ext uri="{FF2B5EF4-FFF2-40B4-BE49-F238E27FC236}">
                <a16:creationId xmlns:a16="http://schemas.microsoft.com/office/drawing/2014/main" id="{8063A73B-69CC-2598-2085-2F101D83B73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850" b="89971" l="0" r="100000">
                        <a14:foregroundMark x1="23188" y1="17699" x2="35145" y2="45723"/>
                        <a14:foregroundMark x1="35145" y1="45723" x2="65942" y2="62242"/>
                        <a14:foregroundMark x1="65942" y1="62242" x2="71377" y2="604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59093" y="2932859"/>
            <a:ext cx="772160" cy="70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Phone Email Location Icon Vector Art, Icons, and Graphics for Free Download">
            <a:extLst>
              <a:ext uri="{FF2B5EF4-FFF2-40B4-BE49-F238E27FC236}">
                <a16:creationId xmlns:a16="http://schemas.microsoft.com/office/drawing/2014/main" id="{8337C690-C8EE-2910-8BF0-6DBB4CBE52C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50" b="89971" l="0" r="74176">
                        <a14:foregroundMark x1="20879" y1="50442" x2="48077" y2="55752"/>
                        <a14:foregroundMark x1="48077" y1="55752" x2="47527" y2="24779"/>
                        <a14:foregroundMark x1="47527" y1="24779" x2="23901" y2="42478"/>
                        <a14:foregroundMark x1="23901" y1="42478" x2="21978" y2="46608"/>
                        <a14:foregroundMark x1="65385" y1="17699" x2="74725" y2="45723"/>
                        <a14:foregroundMark x1="74725" y1="45723" x2="68956" y2="622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-10666"/>
          <a:stretch/>
        </p:blipFill>
        <p:spPr bwMode="auto">
          <a:xfrm>
            <a:off x="1882987" y="2131592"/>
            <a:ext cx="1124373" cy="70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Phone Email Location Icon Vector Art, Icons, and Graphics for Free Download">
            <a:extLst>
              <a:ext uri="{FF2B5EF4-FFF2-40B4-BE49-F238E27FC236}">
                <a16:creationId xmlns:a16="http://schemas.microsoft.com/office/drawing/2014/main" id="{0C00A260-5B04-8C22-C989-062A728BDA2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screen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850" b="89971" l="0" r="100000">
                        <a14:foregroundMark x1="49765" y1="56047" x2="21596" y2="31268"/>
                        <a14:foregroundMark x1="21596" y1="31268" x2="62911" y2="16224"/>
                        <a14:foregroundMark x1="62911" y1="16224" x2="68075" y2="45723"/>
                        <a14:foregroundMark x1="68075" y1="45723" x2="51643" y2="56047"/>
                        <a14:foregroundMark x1="39437" y1="25664" x2="63380" y2="36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41067" y="2088870"/>
            <a:ext cx="596053" cy="70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EF9B4D8-9F0C-226F-05F6-A22B6B5E8EA2}"/>
              </a:ext>
            </a:extLst>
          </p:cNvPr>
          <p:cNvSpPr txBox="1"/>
          <p:nvPr userDrawn="1"/>
        </p:nvSpPr>
        <p:spPr>
          <a:xfrm>
            <a:off x="2817707" y="3832480"/>
            <a:ext cx="2573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spc="100" baseline="0">
                <a:latin typeface="Impact" panose="020B0806030902050204" pitchFamily="34" charset="0"/>
              </a:rPr>
              <a:t>WEB</a:t>
            </a:r>
          </a:p>
          <a:p>
            <a:r>
              <a:rPr lang="en-US" sz="1100" spc="100" baseline="0" err="1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</a:rPr>
              <a:t>www.RaGESystems.com</a:t>
            </a:r>
            <a:endParaRPr lang="en-US" sz="1100" spc="100" baseline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21" name="Picture 4" descr="Phone Email Location Icon Vector Art, Icons, and Graphics for Free Download">
            <a:extLst>
              <a:ext uri="{FF2B5EF4-FFF2-40B4-BE49-F238E27FC236}">
                <a16:creationId xmlns:a16="http://schemas.microsoft.com/office/drawing/2014/main" id="{8CCF0537-9D94-C71D-A2EE-16DC09B3487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850" b="89971" l="0" r="100000">
                        <a14:foregroundMark x1="49765" y1="56047" x2="21596" y2="31268"/>
                        <a14:foregroundMark x1="21596" y1="31268" x2="62911" y2="16224"/>
                        <a14:foregroundMark x1="62911" y1="16224" x2="68075" y2="45723"/>
                        <a14:foregroundMark x1="68075" y1="45723" x2="51643" y2="56047"/>
                        <a14:foregroundMark x1="39437" y1="25664" x2="63380" y2="36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41067" y="2983903"/>
            <a:ext cx="596053" cy="70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cial media LinkedIn Computer Icons Logo Social network, social media,  blue, text, trademark png | PNGWing">
            <a:extLst>
              <a:ext uri="{FF2B5EF4-FFF2-40B4-BE49-F238E27FC236}">
                <a16:creationId xmlns:a16="http://schemas.microsoft.com/office/drawing/2014/main" id="{F63850D8-C024-239E-1090-D1E79E61AF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143" b="95143" l="10000" r="90000">
                        <a14:foregroundMark x1="45978" y1="6857" x2="57826" y2="7857"/>
                        <a14:foregroundMark x1="40543" y1="91286" x2="52609" y2="92286"/>
                        <a14:foregroundMark x1="52609" y1="92286" x2="65000" y2="90429"/>
                        <a14:foregroundMark x1="65000" y1="90429" x2="65761" y2="90571"/>
                        <a14:foregroundMark x1="47500" y1="95143" x2="53587" y2="94143"/>
                        <a14:foregroundMark x1="45217" y1="6143" x2="55109" y2="5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70829" y="3805756"/>
            <a:ext cx="936529" cy="53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941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704FDA-794D-C2A8-36B3-4AFE32116FDC}"/>
              </a:ext>
            </a:extLst>
          </p:cNvPr>
          <p:cNvSpPr/>
          <p:nvPr userDrawn="1"/>
        </p:nvSpPr>
        <p:spPr>
          <a:xfrm rot="5400000">
            <a:off x="5843483" y="509487"/>
            <a:ext cx="505032" cy="12192000"/>
          </a:xfrm>
          <a:prstGeom prst="rect">
            <a:avLst/>
          </a:prstGeom>
          <a:gradFill flip="none" rotWithShape="1">
            <a:gsLst>
              <a:gs pos="0">
                <a:srgbClr val="951C20"/>
              </a:gs>
              <a:gs pos="100000">
                <a:srgbClr val="006DB7"/>
              </a:gs>
            </a:gsLst>
            <a:path path="circle">
              <a:fillToRect l="100000" t="100000"/>
            </a:path>
            <a:tileRect r="-100000" b="-100000"/>
          </a:gradFill>
          <a:ln w="317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2" descr="Mobix Labs, Inc. Trademark Registration">
            <a:extLst>
              <a:ext uri="{FF2B5EF4-FFF2-40B4-BE49-F238E27FC236}">
                <a16:creationId xmlns:a16="http://schemas.microsoft.com/office/drawing/2014/main" id="{9DEEA06A-92D1-0999-BAA3-DFBAF3A355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3846" b="93590" l="333" r="98167">
                        <a14:foregroundMark x1="95167" y1="65385" x2="96833" y2="48718"/>
                        <a14:foregroundMark x1="84370" y1="50000" x2="84000" y2="17949"/>
                        <a14:foregroundMark x1="84385" y1="51282" x2="84370" y2="50000"/>
                        <a14:foregroundMark x1="84400" y1="52564" x2="84385" y2="51282"/>
                        <a14:foregroundMark x1="84474" y1="58974" x2="84400" y2="52564"/>
                        <a14:foregroundMark x1="84593" y1="69231" x2="84474" y2="58974"/>
                        <a14:foregroundMark x1="84623" y1="71795" x2="84593" y2="69231"/>
                        <a14:foregroundMark x1="84667" y1="75641" x2="84623" y2="71795"/>
                        <a14:foregroundMark x1="84500" y1="78205" x2="90167" y2="74359"/>
                        <a14:foregroundMark x1="98167" y1="44872" x2="93833" y2="80769"/>
                        <a14:foregroundMark x1="93833" y1="80769" x2="93167" y2="83333"/>
                        <a14:foregroundMark x1="76614" y1="46579" x2="76333" y2="41026"/>
                        <a14:foregroundMark x1="76717" y1="48621" x2="76647" y2="47240"/>
                        <a14:foregroundMark x1="77021" y1="54630" x2="76719" y2="48663"/>
                        <a14:foregroundMark x1="77694" y1="67949" x2="77523" y2="64565"/>
                        <a14:foregroundMark x1="77759" y1="69231" x2="77694" y2="67949"/>
                        <a14:foregroundMark x1="78667" y1="87179" x2="77759" y2="69231"/>
                        <a14:foregroundMark x1="75889" y1="69231" x2="75667" y2="83333"/>
                        <a14:foregroundMark x1="75909" y1="67949" x2="75889" y2="69231"/>
                        <a14:foregroundMark x1="75939" y1="66081" x2="75909" y2="67949"/>
                        <a14:foregroundMark x1="76111" y1="55128" x2="76105" y2="55506"/>
                        <a14:foregroundMark x1="76333" y1="41026" x2="76111" y2="55128"/>
                        <a14:foregroundMark x1="63500" y1="10256" x2="64000" y2="58974"/>
                        <a14:foregroundMark x1="65875" y1="66667" x2="69000" y2="79487"/>
                        <a14:foregroundMark x1="64000" y1="58974" x2="65875" y2="66667"/>
                        <a14:foregroundMark x1="52833" y1="16667" x2="48000" y2="83333"/>
                        <a14:foregroundMark x1="41833" y1="42308" x2="41833" y2="82051"/>
                        <a14:foregroundMark x1="41833" y1="14103" x2="41833" y2="14103"/>
                        <a14:foregroundMark x1="31500" y1="8974" x2="31667" y2="57692"/>
                        <a14:foregroundMark x1="31667" y1="57692" x2="33667" y2="82051"/>
                        <a14:foregroundMark x1="20667" y1="52564" x2="26833" y2="48718"/>
                        <a14:foregroundMark x1="26833" y1="48718" x2="26833" y2="48718"/>
                        <a14:foregroundMark x1="16500" y1="84615" x2="16500" y2="34615"/>
                        <a14:foregroundMark x1="16500" y1="34615" x2="11000" y2="12821"/>
                        <a14:foregroundMark x1="11000" y1="12821" x2="7500" y2="11538"/>
                        <a14:foregroundMark x1="1167" y1="93590" x2="833" y2="57692"/>
                        <a14:foregroundMark x1="4667" y1="41026" x2="4667" y2="41026"/>
                        <a14:foregroundMark x1="87333" y1="47436" x2="88000" y2="48718"/>
                        <a14:foregroundMark x1="88667" y1="42308" x2="89167" y2="43590"/>
                        <a14:foregroundMark x1="88167" y1="41026" x2="88667" y2="42308"/>
                        <a14:foregroundMark x1="89583" y1="37179" x2="89833" y2="38462"/>
                        <a14:foregroundMark x1="89333" y1="35897" x2="89583" y2="37179"/>
                        <a14:foregroundMark x1="89083" y1="34615" x2="89333" y2="35897"/>
                        <a14:foregroundMark x1="88833" y1="33333" x2="89083" y2="34615"/>
                        <a14:foregroundMark x1="87333" y1="29487" x2="87333" y2="29487"/>
                        <a14:foregroundMark x1="91167" y1="53846" x2="91167" y2="53846"/>
                        <a14:foregroundMark x1="90167" y1="56410" x2="90167" y2="56410"/>
                        <a14:foregroundMark x1="89667" y1="47436" x2="89667" y2="47436"/>
                        <a14:foregroundMark x1="88667" y1="41026" x2="88667" y2="41026"/>
                        <a14:foregroundMark x1="89167" y1="58974" x2="89167" y2="58974"/>
                        <a14:foregroundMark x1="87833" y1="47436" x2="87833" y2="47436"/>
                        <a14:foregroundMark x1="87000" y1="61538" x2="87000" y2="61538"/>
                        <a14:foregroundMark x1="88500" y1="51282" x2="88500" y2="51282"/>
                        <a14:foregroundMark x1="89000" y1="55128" x2="89000" y2="55128"/>
                        <a14:foregroundMark x1="89000" y1="55128" x2="89000" y2="55128"/>
                        <a14:foregroundMark x1="87250" y1="47436" x2="87000" y2="46154"/>
                        <a14:foregroundMark x1="87500" y1="48718" x2="87250" y2="47436"/>
                        <a14:foregroundMark x1="87750" y1="50000" x2="87500" y2="48718"/>
                        <a14:foregroundMark x1="88000" y1="51282" x2="87750" y2="50000"/>
                        <a14:foregroundMark x1="88250" y1="52564" x2="88000" y2="51282"/>
                        <a14:foregroundMark x1="88500" y1="53846" x2="88250" y2="52564"/>
                        <a14:foregroundMark x1="88750" y1="55128" x2="88500" y2="53846"/>
                        <a14:foregroundMark x1="89000" y1="56410" x2="88750" y2="55128"/>
                        <a14:foregroundMark x1="89808" y1="52564" x2="90000" y2="53846"/>
                        <a14:foregroundMark x1="89616" y1="51282" x2="89808" y2="52564"/>
                        <a14:foregroundMark x1="89424" y1="50000" x2="89616" y2="51282"/>
                        <a14:foregroundMark x1="89232" y1="48718" x2="89424" y2="50000"/>
                        <a14:foregroundMark x1="89039" y1="47436" x2="89232" y2="48718"/>
                        <a14:foregroundMark x1="88847" y1="46154" x2="89039" y2="47436"/>
                        <a14:foregroundMark x1="88655" y1="44872" x2="88847" y2="46154"/>
                        <a14:foregroundMark x1="88462" y1="43590" x2="88655" y2="44872"/>
                        <a14:foregroundMark x1="88270" y1="42308" x2="88462" y2="43590"/>
                        <a14:foregroundMark x1="88078" y1="41026" x2="88270" y2="42308"/>
                        <a14:foregroundMark x1="87693" y1="38462" x2="88078" y2="41026"/>
                        <a14:foregroundMark x1="87500" y1="37179" x2="87693" y2="38462"/>
                        <a14:foregroundMark x1="86833" y1="58974" x2="87000" y2="61538"/>
                        <a14:foregroundMark x1="5000" y1="23077" x2="5000" y2="23077"/>
                        <a14:foregroundMark x1="5000" y1="12821" x2="5000" y2="12821"/>
                        <a14:foregroundMark x1="5000" y1="3846" x2="5000" y2="3846"/>
                        <a14:foregroundMark x1="3167" y1="17949" x2="3167" y2="17949"/>
                        <a14:foregroundMark x1="1500" y1="38462" x2="1500" y2="38462"/>
                        <a14:foregroundMark x1="333" y1="41026" x2="333" y2="41026"/>
                        <a14:backgroundMark x1="75833" y1="65385" x2="76000" y2="60256"/>
                        <a14:backgroundMark x1="75833" y1="69231" x2="76000" y2="57692"/>
                        <a14:backgroundMark x1="75833" y1="55128" x2="75833" y2="55128"/>
                        <a14:backgroundMark x1="76000" y1="55128" x2="76000" y2="55128"/>
                        <a14:backgroundMark x1="76167" y1="64103" x2="76167" y2="64103"/>
                        <a14:backgroundMark x1="76000" y1="69231" x2="76000" y2="69231"/>
                        <a14:backgroundMark x1="76000" y1="67949" x2="76000" y2="67949"/>
                        <a14:backgroundMark x1="76167" y1="62821" x2="76167" y2="62821"/>
                        <a14:backgroundMark x1="76500" y1="55128" x2="76667" y2="65385"/>
                        <a14:backgroundMark x1="76833" y1="56410" x2="76833" y2="56410"/>
                        <a14:backgroundMark x1="76833" y1="57692" x2="76833" y2="57692"/>
                        <a14:backgroundMark x1="66167" y1="66667" x2="66167" y2="66667"/>
                        <a14:backgroundMark x1="86833" y1="71795" x2="86833" y2="71795"/>
                        <a14:backgroundMark x1="87167" y1="69231" x2="87167" y2="69231"/>
                        <a14:backgroundMark x1="85833" y1="58974" x2="85833" y2="58974"/>
                        <a14:backgroundMark x1="88333" y1="64103" x2="88333" y2="64103"/>
                        <a14:backgroundMark x1="86000" y1="51282" x2="86000" y2="51282"/>
                        <a14:backgroundMark x1="87333" y1="52564" x2="87333" y2="52564"/>
                        <a14:backgroundMark x1="87667" y1="53846" x2="87667" y2="53846"/>
                        <a14:backgroundMark x1="87500" y1="51282" x2="87500" y2="51282"/>
                        <a14:backgroundMark x1="87000" y1="50000" x2="87000" y2="50000"/>
                        <a14:backgroundMark x1="87833" y1="55128" x2="87833" y2="55128"/>
                        <a14:backgroundMark x1="88000" y1="53846" x2="88000" y2="53846"/>
                        <a14:backgroundMark x1="87833" y1="52564" x2="87833" y2="52564"/>
                        <a14:backgroundMark x1="88167" y1="55128" x2="88167" y2="55128"/>
                        <a14:backgroundMark x1="88500" y1="57692" x2="88500" y2="57692"/>
                        <a14:backgroundMark x1="88000" y1="43590" x2="88000" y2="43590"/>
                        <a14:backgroundMark x1="89500" y1="56410" x2="89500" y2="56410"/>
                        <a14:backgroundMark x1="89167" y1="51282" x2="89167" y2="51282"/>
                        <a14:backgroundMark x1="88500" y1="47436" x2="88500" y2="47436"/>
                        <a14:backgroundMark x1="88833" y1="48718" x2="88833" y2="48718"/>
                        <a14:backgroundMark x1="88333" y1="46154" x2="88333" y2="46154"/>
                        <a14:backgroundMark x1="88500" y1="46154" x2="88500" y2="46154"/>
                        <a14:backgroundMark x1="88167" y1="44872" x2="88167" y2="44872"/>
                        <a14:backgroundMark x1="88333" y1="44872" x2="88333" y2="44872"/>
                        <a14:backgroundMark x1="89000" y1="48718" x2="89000" y2="48718"/>
                        <a14:backgroundMark x1="88667" y1="46154" x2="88667" y2="46154"/>
                        <a14:backgroundMark x1="89500" y1="53846" x2="89500" y2="53846"/>
                        <a14:backgroundMark x1="90667" y1="58974" x2="90667" y2="58974"/>
                        <a14:backgroundMark x1="90333" y1="50000" x2="90333" y2="50000"/>
                        <a14:backgroundMark x1="89833" y1="43590" x2="89833" y2="43590"/>
                        <a14:backgroundMark x1="89000" y1="38462" x2="89000" y2="38462"/>
                        <a14:backgroundMark x1="87333" y1="34615" x2="87333" y2="34615"/>
                        <a14:backgroundMark x1="87667" y1="34615" x2="87667" y2="34615"/>
                        <a14:backgroundMark x1="88333" y1="35897" x2="88333" y2="35897"/>
                        <a14:backgroundMark x1="87667" y1="43590" x2="87667" y2="43590"/>
                        <a14:backgroundMark x1="87500" y1="42308" x2="87500" y2="42308"/>
                        <a14:backgroundMark x1="89500" y1="41026" x2="89500" y2="41026"/>
                        <a14:backgroundMark x1="333" y1="98718" x2="333" y2="98718"/>
                        <a14:backgroundMark x1="1000" y1="97436" x2="1000" y2="97436"/>
                        <a14:backgroundMark x1="1167" y1="96154" x2="1167" y2="96154"/>
                        <a14:backgroundMark x1="4167" y1="8974" x2="4167" y2="89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8996" y="6424889"/>
            <a:ext cx="1746247" cy="22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9400" y="144463"/>
            <a:ext cx="9817100" cy="61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400" y="853440"/>
            <a:ext cx="11617960" cy="5333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400" y="6407720"/>
            <a:ext cx="1498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15 JULY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5692" y="6455319"/>
            <a:ext cx="30720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80320" y="6407720"/>
            <a:ext cx="1711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A5FBB9-5B18-4541-B0C6-2C6E2660E8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36A38-DFEB-E2E7-0A52-162864FF4B76}"/>
              </a:ext>
            </a:extLst>
          </p:cNvPr>
          <p:cNvSpPr txBox="1"/>
          <p:nvPr userDrawn="1"/>
        </p:nvSpPr>
        <p:spPr>
          <a:xfrm>
            <a:off x="8387904" y="6589172"/>
            <a:ext cx="1528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www.MobixLabs.com</a:t>
            </a:r>
            <a:endParaRPr lang="en-US" sz="1200" dirty="0"/>
          </a:p>
        </p:txBody>
      </p:sp>
      <p:pic>
        <p:nvPicPr>
          <p:cNvPr id="12" name="Picture 11" descr="A black and red logo&#10;&#10;Description automatically generated">
            <a:extLst>
              <a:ext uri="{FF2B5EF4-FFF2-40B4-BE49-F238E27FC236}">
                <a16:creationId xmlns:a16="http://schemas.microsoft.com/office/drawing/2014/main" id="{611C6E17-C972-1E56-305B-61D68E1DFEC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096500" y="85672"/>
            <a:ext cx="18161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1" r:id="rId2"/>
    <p:sldLayoutId id="2147483692" r:id="rId3"/>
    <p:sldLayoutId id="2147483694" r:id="rId4"/>
    <p:sldLayoutId id="2147483703" r:id="rId5"/>
    <p:sldLayoutId id="2147483696" r:id="rId6"/>
    <p:sldLayoutId id="2147483697" r:id="rId7"/>
    <p:sldLayoutId id="2147483702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8.wdp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red sky with clouds&#10;&#10;Description automatically generated">
            <a:extLst>
              <a:ext uri="{FF2B5EF4-FFF2-40B4-BE49-F238E27FC236}">
                <a16:creationId xmlns:a16="http://schemas.microsoft.com/office/drawing/2014/main" id="{F44C767E-DDB2-518A-E6D6-A6EA3641E4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0" y="584"/>
            <a:ext cx="12186939" cy="686692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11" b="211"/>
          <a:stretch>
            <a:fillRect/>
          </a:stretch>
        </p:blipFill>
        <p:spPr>
          <a:xfrm>
            <a:off x="3421921" y="118239"/>
            <a:ext cx="5348158" cy="264553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953947" y="2228636"/>
            <a:ext cx="4346792" cy="54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7"/>
              </a:lnSpc>
            </a:pPr>
            <a:r>
              <a:rPr lang="en-US" sz="3113" dirty="0">
                <a:solidFill>
                  <a:srgbClr val="000000"/>
                </a:solidFill>
                <a:latin typeface="Poppins"/>
              </a:rPr>
              <a:t>RaGE Systems LLC</a:t>
            </a:r>
            <a:endParaRPr lang="en-US" sz="3119" dirty="0">
              <a:solidFill>
                <a:srgbClr val="000000"/>
              </a:solidFill>
              <a:latin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927420" y="2722156"/>
            <a:ext cx="4346792" cy="3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5"/>
              </a:lnSpc>
            </a:pPr>
            <a:r>
              <a:rPr lang="en-US" sz="2018">
                <a:solidFill>
                  <a:srgbClr val="000000"/>
                </a:solidFill>
                <a:latin typeface="Poppins Light Light"/>
              </a:rPr>
              <a:t>Your World Class RF-JDM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390373-19D3-162E-702A-17FC695220C1}"/>
              </a:ext>
            </a:extLst>
          </p:cNvPr>
          <p:cNvSpPr txBox="1"/>
          <p:nvPr/>
        </p:nvSpPr>
        <p:spPr>
          <a:xfrm>
            <a:off x="3905477" y="4484066"/>
            <a:ext cx="43811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Strategy Working Session</a:t>
            </a:r>
          </a:p>
          <a:p>
            <a:pPr algn="ctr"/>
            <a:r>
              <a:rPr lang="en-US" sz="3200" dirty="0"/>
              <a:t>18 July 2024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7B0DA8-4B6F-A0D6-3AF8-BB5C9A469707}"/>
              </a:ext>
            </a:extLst>
          </p:cNvPr>
          <p:cNvSpPr txBox="1"/>
          <p:nvPr/>
        </p:nvSpPr>
        <p:spPr>
          <a:xfrm>
            <a:off x="4634970" y="3056814"/>
            <a:ext cx="3083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 Mobix Labs Company</a:t>
            </a:r>
          </a:p>
        </p:txBody>
      </p:sp>
      <p:pic>
        <p:nvPicPr>
          <p:cNvPr id="1026" name="Picture 2" descr="Mobix Labs, Inc. News — NASDAQ:MOBX — TradingView">
            <a:extLst>
              <a:ext uri="{FF2B5EF4-FFF2-40B4-BE49-F238E27FC236}">
                <a16:creationId xmlns:a16="http://schemas.microsoft.com/office/drawing/2014/main" id="{ED040B23-FCFB-D950-FB84-47A38E83D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4333" y1="48167" x2="14333" y2="43667"/>
                        <a14:foregroundMark x1="41833" y1="46833" x2="40500" y2="42500"/>
                        <a14:foregroundMark x1="54833" y1="36167" x2="54833" y2="42333"/>
                        <a14:foregroundMark x1="68333" y1="35000" x2="68500" y2="36167"/>
                        <a14:foregroundMark x1="68333" y1="40833" x2="68500" y2="45500"/>
                        <a14:foregroundMark x1="76500" y1="36167" x2="79833" y2="41000"/>
                        <a14:foregroundMark x1="74333" y1="62333" x2="70000" y2="68333"/>
                        <a14:foregroundMark x1="70000" y1="68333" x2="69833" y2="69000"/>
                        <a14:foregroundMark x1="54833" y1="57167" x2="55333" y2="64167"/>
                        <a14:foregroundMark x1="56019" y1="65833" x2="56500" y2="67000"/>
                        <a14:foregroundMark x1="55333" y1="64167" x2="56019" y2="65833"/>
                        <a14:foregroundMark x1="48833" y1="62667" x2="48167" y2="69667"/>
                        <a14:foregroundMark x1="48167" y1="69667" x2="48333" y2="69833"/>
                        <a14:foregroundMark x1="26833" y1="59333" x2="28000" y2="67667"/>
                        <a14:foregroundMark x1="59000" y1="65333" x2="59000" y2="65333"/>
                        <a14:foregroundMark x1="18667" y1="41000" x2="18667" y2="41000"/>
                        <a14:foregroundMark x1="18500" y1="38333" x2="18500" y2="38333"/>
                        <a14:foregroundMark x1="18667" y1="36500" x2="18667" y2="36500"/>
                        <a14:foregroundMark x1="18333" y1="34833" x2="18333" y2="34833"/>
                        <a14:foregroundMark x1="18167" y1="36500" x2="18167" y2="36500"/>
                        <a14:foregroundMark x1="18500" y1="36333" x2="18500" y2="36333"/>
                        <a14:foregroundMark x1="18667" y1="38167" x2="18667" y2="38167"/>
                        <a14:foregroundMark x1="63833" y1="61833" x2="63833" y2="61833"/>
                        <a14:foregroundMark x1="62500" y1="62500" x2="62500" y2="62500"/>
                        <a14:foregroundMark x1="60333" y1="61500" x2="60333" y2="61500"/>
                        <a14:foregroundMark x1="60667" y1="63000" x2="60667" y2="63000"/>
                        <a14:foregroundMark x1="60500" y1="61333" x2="60500" y2="61333"/>
                        <a14:foregroundMark x1="60500" y1="61333" x2="60500" y2="61333"/>
                        <a14:foregroundMark x1="60500" y1="61333" x2="60500" y2="61333"/>
                        <a14:foregroundMark x1="60667" y1="61333" x2="60667" y2="61333"/>
                        <a14:backgroundMark x1="60833" y1="61000" x2="60833" y2="61000"/>
                        <a14:backgroundMark x1="61000" y1="64333" x2="61000" y2="64333"/>
                        <a14:backgroundMark x1="57667" y1="65833" x2="57667" y2="65833"/>
                        <a14:backgroundMark x1="58000" y1="65833" x2="58000" y2="65833"/>
                        <a14:backgroundMark x1="61167" y1="64333" x2="61167" y2="64333"/>
                        <a14:backgroundMark x1="60833" y1="64167" x2="60833" y2="64167"/>
                        <a14:backgroundMark x1="60833" y1="64000" x2="60833" y2="64000"/>
                        <a14:backgroundMark x1="18667" y1="37000" x2="18667" y2="37000"/>
                        <a14:backgroundMark x1="18500" y1="37000" x2="18500" y2="37000"/>
                        <a14:backgroundMark x1="18500" y1="36833" x2="18500" y2="36833"/>
                        <a14:backgroundMark x1="18833" y1="36833" x2="18833" y2="36833"/>
                        <a14:backgroundMark x1="18500" y1="38500" x2="18500" y2="3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4642" y="2800900"/>
            <a:ext cx="2122715" cy="212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59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CDC4B5-3321-4794-B022-D799F088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WAM C and LCWAM Production ATE Changes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58580EA-2879-257E-9D3D-62A22FE4D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  <a:p>
            <a:pPr lvl="1"/>
            <a:r>
              <a:rPr lang="en-US" dirty="0"/>
              <a:t>Rage WAM_PROD Test SW is used for testing WAM </a:t>
            </a:r>
            <a:r>
              <a:rPr lang="en-US" dirty="0" err="1"/>
              <a:t>RevC</a:t>
            </a:r>
            <a:r>
              <a:rPr lang="en-US" dirty="0"/>
              <a:t> modules to be shipped to customer</a:t>
            </a:r>
          </a:p>
          <a:p>
            <a:pPr lvl="1"/>
            <a:r>
              <a:rPr lang="en-US" dirty="0"/>
              <a:t>Prod SW was designed originally to test for DVT in LabView 2018 with user definable loops.</a:t>
            </a:r>
          </a:p>
          <a:p>
            <a:pPr lvl="1"/>
            <a:r>
              <a:rPr lang="en-US" dirty="0"/>
              <a:t>Prod SW was scaled back to test to production parameters</a:t>
            </a:r>
          </a:p>
          <a:p>
            <a:pPr lvl="1"/>
            <a:r>
              <a:rPr lang="en-US" dirty="0"/>
              <a:t>Prod SW was NOT designed to become .exe (executable) software as we did not have the time, or optioned </a:t>
            </a:r>
            <a:r>
              <a:rPr lang="en-US" dirty="0" err="1"/>
              <a:t>sw</a:t>
            </a:r>
            <a:r>
              <a:rPr lang="en-US" dirty="0"/>
              <a:t> to do so in the early stages.</a:t>
            </a:r>
          </a:p>
          <a:p>
            <a:pPr lvl="1"/>
            <a:r>
              <a:rPr lang="en-US" dirty="0"/>
              <a:t>Prod SW is DIRECTORY Based. 3</a:t>
            </a:r>
            <a:r>
              <a:rPr lang="en-US" baseline="30000" dirty="0"/>
              <a:t>rd</a:t>
            </a:r>
            <a:r>
              <a:rPr lang="en-US" dirty="0"/>
              <a:t> Party (Rage) python scripts are also directory based</a:t>
            </a:r>
          </a:p>
          <a:p>
            <a:pPr lvl="1"/>
            <a:r>
              <a:rPr lang="en-US" dirty="0"/>
              <a:t>Python Scripts that run in </a:t>
            </a:r>
            <a:r>
              <a:rPr lang="en-US" dirty="0" err="1"/>
              <a:t>labview</a:t>
            </a:r>
            <a:r>
              <a:rPr lang="en-US" dirty="0"/>
              <a:t> are use command line interface , not embedded python LV interface</a:t>
            </a:r>
          </a:p>
          <a:p>
            <a:pPr lvl="2"/>
            <a:r>
              <a:rPr lang="en-US" dirty="0"/>
              <a:t>Due to limitations in python and LV version compatibility</a:t>
            </a:r>
          </a:p>
          <a:p>
            <a:pPr lvl="2"/>
            <a:endParaRPr lang="en-US" dirty="0"/>
          </a:p>
          <a:p>
            <a:r>
              <a:rPr lang="en-US" dirty="0"/>
              <a:t>Create .exe , Executable top level Gui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56AD3-4C40-407E-B5F5-265C7D54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C658C-77F6-1407-553F-50D57753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4D617-B577-9986-1D56-D38284D6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05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25C7-B7A6-EDBB-C8F5-87EBDC6F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WAM C and LCWAM Production Python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4B99B-ADBE-F2A7-E64F-D994476D8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7" y="895186"/>
            <a:ext cx="6307549" cy="538791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List of </a:t>
            </a:r>
            <a:r>
              <a:rPr lang="en-US" dirty="0" err="1"/>
              <a:t>Py</a:t>
            </a:r>
            <a:r>
              <a:rPr lang="en-US" dirty="0"/>
              <a:t> Code/Scripts </a:t>
            </a:r>
          </a:p>
          <a:p>
            <a:pPr lvl="1"/>
            <a:r>
              <a:rPr lang="en-US" dirty="0"/>
              <a:t>Each Bullet is a directory, scripts and </a:t>
            </a:r>
            <a:r>
              <a:rPr lang="en-US" dirty="0" err="1"/>
              <a:t>Labview</a:t>
            </a:r>
            <a:r>
              <a:rPr lang="en-US" dirty="0"/>
              <a:t> vi they reside in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C:\3500000_TetraProdSW\FinalTest  </a:t>
            </a:r>
          </a:p>
          <a:p>
            <a:pPr lvl="2"/>
            <a:r>
              <a:rPr lang="en-US" dirty="0"/>
              <a:t>Used in:  C:\RageATE\Automated Tests\Tetra WAM\Utilities\</a:t>
            </a:r>
            <a:r>
              <a:rPr lang="en-US" dirty="0" err="1"/>
              <a:t>Employee_Lookup</a:t>
            </a:r>
            <a:r>
              <a:rPr lang="en-US" dirty="0"/>
              <a:t>(</a:t>
            </a:r>
            <a:r>
              <a:rPr lang="en-US" dirty="0" err="1"/>
              <a:t>py</a:t>
            </a:r>
            <a:r>
              <a:rPr lang="en-US" dirty="0"/>
              <a:t>).vi 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Verify_Employee.py  { Employee </a:t>
            </a:r>
            <a:r>
              <a:rPr lang="en-US" dirty="0" err="1">
                <a:solidFill>
                  <a:schemeClr val="accent1"/>
                </a:solidFill>
              </a:rPr>
              <a:t>db</a:t>
            </a:r>
            <a:r>
              <a:rPr lang="en-US" dirty="0">
                <a:solidFill>
                  <a:schemeClr val="accent1"/>
                </a:solidFill>
              </a:rPr>
              <a:t> lookup}</a:t>
            </a:r>
          </a:p>
          <a:p>
            <a:pPr lvl="2"/>
            <a:r>
              <a:rPr lang="en-US" dirty="0"/>
              <a:t>Used in : C:\RageATE\Automated Tests\Tetra WAM\Utilities\Pre-FinalTestBcScan.vi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PreFinalTest.py { WAM Module process lookup}</a:t>
            </a:r>
          </a:p>
          <a:p>
            <a:pPr lvl="2"/>
            <a:r>
              <a:rPr lang="en-US" dirty="0"/>
              <a:t>Used in: C:\RageATE\Automated Tests\Tetra WAM\PRODUCTION\post processor\PostFinalTest.vi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PostFinalTest.py {Move results to Synology Drive}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C:\3500007_TetraFinalTestAnalysis</a:t>
            </a:r>
          </a:p>
          <a:p>
            <a:pPr lvl="2"/>
            <a:r>
              <a:rPr lang="en-US" dirty="0"/>
              <a:t>Used in: C:\RageATE\Automated Tests\Tetra WAM\PRODUCTION\post processor\FinalReportResult.vi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finalTestOutcome.py { PASS/ FAIL Result Summary}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C:\RageATE\Instruments\Zaber Gantry\</a:t>
            </a:r>
            <a:r>
              <a:rPr lang="en-US" b="1" dirty="0" err="1"/>
              <a:t>Labview</a:t>
            </a:r>
            <a:r>
              <a:rPr lang="en-US" b="1" dirty="0"/>
              <a:t> Code from Colin</a:t>
            </a:r>
          </a:p>
          <a:p>
            <a:pPr lvl="2"/>
            <a:r>
              <a:rPr lang="en-US" dirty="0"/>
              <a:t>Used in:  C:\RageATE\Instruments\Zaber Gantry\</a:t>
            </a:r>
            <a:r>
              <a:rPr lang="en-US" dirty="0" err="1"/>
              <a:t>Labview</a:t>
            </a:r>
            <a:r>
              <a:rPr lang="en-US" dirty="0"/>
              <a:t> Code from Colin\Gantry\Gantry.vi</a:t>
            </a:r>
          </a:p>
          <a:p>
            <a:pPr lvl="3"/>
            <a:r>
              <a:rPr lang="en-US" dirty="0"/>
              <a:t>Gantry.py – </a:t>
            </a:r>
            <a:r>
              <a:rPr lang="en-US" b="1" dirty="0"/>
              <a:t>PYTHON NODE </a:t>
            </a:r>
            <a:r>
              <a:rPr lang="en-US" dirty="0"/>
              <a:t>(Not CMD)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C:\TetraLabGUI</a:t>
            </a:r>
          </a:p>
          <a:p>
            <a:pPr lvl="2"/>
            <a:r>
              <a:rPr lang="en-US" dirty="0"/>
              <a:t>Used in: C:\RageATE\Automated Tests\Tetra WAM\Utilities\PingTestBoard.vi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BPClient-Labview.py –ping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Am_Init_REVC.py -dynamic </a:t>
            </a:r>
          </a:p>
          <a:p>
            <a:pPr lvl="3"/>
            <a:r>
              <a:rPr lang="fr-FR" dirty="0">
                <a:solidFill>
                  <a:schemeClr val="accent1"/>
                </a:solidFill>
              </a:rPr>
              <a:t>python dynamic_mode_init.py </a:t>
            </a:r>
            <a:endParaRPr lang="en-US" dirty="0">
              <a:solidFill>
                <a:schemeClr val="accent1"/>
              </a:solidFill>
            </a:endParaRPr>
          </a:p>
          <a:p>
            <a:pPr lvl="2"/>
            <a:r>
              <a:rPr lang="en-US" dirty="0"/>
              <a:t>Used in: C:\RageATE\Automated Tests\Tetra WAM\Utilities\GetRxPower.vi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BpClient_Avg.py –fft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BPClient-Labview.py –fft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BPwip-Labview.py –fft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Am_Init_REVC.py –dynamic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Am_Init_REVC.py</a:t>
            </a:r>
          </a:p>
          <a:p>
            <a:pPr lvl="2"/>
            <a:r>
              <a:rPr lang="en-US" dirty="0"/>
              <a:t>C:\RageATE\Automated Tests\Tetra WAM\Utilities\Bounce_Capture.vi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ReadADCClient_revc.py –fft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Am_Init_REVC.py -dynamic </a:t>
            </a:r>
          </a:p>
          <a:p>
            <a:pPr lvl="3"/>
            <a:r>
              <a:rPr lang="en-US" dirty="0">
                <a:solidFill>
                  <a:schemeClr val="accent1"/>
                </a:solidFill>
              </a:rPr>
              <a:t>python Am_Init_REVC.py </a:t>
            </a:r>
          </a:p>
          <a:p>
            <a:pPr lvl="3"/>
            <a:r>
              <a:rPr lang="fr-FR" dirty="0">
                <a:solidFill>
                  <a:schemeClr val="accent1"/>
                </a:solidFill>
              </a:rPr>
              <a:t>python dynamic_mode_init.py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FDA6F-FF1C-E73E-AF58-A7189F9B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91518-BCF8-30B3-DFAF-F22AF099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74AD-88AA-D7CB-0C11-E14A846D9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450291-ECDB-0C15-D3F5-D2A9B7B9118F}"/>
              </a:ext>
            </a:extLst>
          </p:cNvPr>
          <p:cNvSpPr txBox="1">
            <a:spLocks/>
          </p:cNvSpPr>
          <p:nvPr/>
        </p:nvSpPr>
        <p:spPr>
          <a:xfrm>
            <a:off x="6047716" y="1257325"/>
            <a:ext cx="5739897" cy="3948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+mj-lt"/>
              <a:buAutoNum type="arabicPeriod" startAt="5"/>
            </a:pPr>
            <a:r>
              <a:rPr lang="en-US" sz="1000" b="1" dirty="0"/>
              <a:t>C:\RageATE\Automated Tests\Tetra WAM\Utilities\VerifySiTime.py</a:t>
            </a:r>
          </a:p>
          <a:p>
            <a:pPr lvl="2"/>
            <a:r>
              <a:rPr lang="en-US" sz="900" dirty="0"/>
              <a:t>Used in: C:\RageATE\Automated Tests\Tetra WAM\PRODUCTION\prod test vis\ClkRegTest.vi</a:t>
            </a:r>
          </a:p>
        </p:txBody>
      </p:sp>
    </p:spTree>
    <p:extLst>
      <p:ext uri="{BB962C8B-B14F-4D97-AF65-F5344CB8AC3E}">
        <p14:creationId xmlns:p14="http://schemas.microsoft.com/office/powerpoint/2010/main" val="342986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56F1-C570-F3AB-4AB5-08428BA3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92F6-F320-B099-1F1C-CC966FA82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git automation</a:t>
            </a:r>
          </a:p>
          <a:p>
            <a:pPr lvl="1"/>
            <a:r>
              <a:rPr lang="en-US" dirty="0"/>
              <a:t>ATE SW uses git to unsure all dependent directories are up to date (mostly python prod scripts)</a:t>
            </a:r>
          </a:p>
          <a:p>
            <a:pPr lvl="1"/>
            <a:r>
              <a:rPr lang="en-US" dirty="0"/>
              <a:t>Allows for production SW updates to be implemented without a re-build of Rage 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C09DC-8E92-F433-D636-BBAD04EC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0FE60-333F-A216-440C-0AF9BE05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E7848-30E4-8F8B-DD13-88862D76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6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3A2EE0A-CABD-603B-6453-6A2FA23DD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PROPRIETARY &amp; CONFIDENTIAL STATEMENT:</a:t>
            </a:r>
          </a:p>
          <a:p>
            <a:r>
              <a:rPr lang="en-US" dirty="0"/>
              <a:t>This document contains confidential or proprietary information exempt from public disclosure and shared only under a binding non-disclosure agreement. No portion of this document may be reproduced, redistributed, or otherwise disclosed to any third party without RaGE Systems LLC written permission.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38BD4-CBB7-1B71-F4DD-F0564DAA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 JULY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C19B8-8483-F8AC-3935-001CB96F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Information See Cover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F4304-BDD5-A370-3465-3E6588EF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5FBB9-5B18-4541-B0C6-2C6E2660E8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1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31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GE Systems MOBX Template" id="{4F5FA616-9E35-AF4C-A185-89A759B3E9E8}" vid="{8704ED09-EBDC-1B43-A2DB-7B85E07008C8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81cf83-d972-4173-942c-2819ef494fbd" xsi:nil="true"/>
    <lcf76f155ced4ddcb4097134ff3c332f xmlns="633e82ec-1549-451f-8602-e778cd9faea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A5D095B479BF47BB217D4740E716E5" ma:contentTypeVersion="12" ma:contentTypeDescription="Create a new document." ma:contentTypeScope="" ma:versionID="32f005c70d6245107233f4bf497c035a">
  <xsd:schema xmlns:xsd="http://www.w3.org/2001/XMLSchema" xmlns:xs="http://www.w3.org/2001/XMLSchema" xmlns:p="http://schemas.microsoft.com/office/2006/metadata/properties" xmlns:ns2="633e82ec-1549-451f-8602-e778cd9faeaa" xmlns:ns3="5681cf83-d972-4173-942c-2819ef494fbd" targetNamespace="http://schemas.microsoft.com/office/2006/metadata/properties" ma:root="true" ma:fieldsID="e71e5a381c9f9064379839328140cd12" ns2:_="" ns3:_="">
    <xsd:import namespace="633e82ec-1549-451f-8602-e778cd9faeaa"/>
    <xsd:import namespace="5681cf83-d972-4173-942c-2819ef494f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3e82ec-1549-451f-8602-e778cd9fa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bc2a485-0cd9-4f9c-a26e-e3c4fcff01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cf83-d972-4173-942c-2819ef494fb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1499d81-1150-43e5-bd54-30d8fa6d0e22}" ma:internalName="TaxCatchAll" ma:showField="CatchAllData" ma:web="5681cf83-d972-4173-942c-2819ef494f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34B8A5-28AF-456C-AD15-48A0EA323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87F15C-34A6-4E96-9913-1BE78F30A057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c2ea8c79-c3a9-4594-8a4c-0ef20ff34a76"/>
    <ds:schemaRef ds:uri="5681cf83-d972-4173-942c-2819ef494fbd"/>
    <ds:schemaRef ds:uri="633e82ec-1549-451f-8602-e778cd9faeaa"/>
  </ds:schemaRefs>
</ds:datastoreItem>
</file>

<file path=customXml/itemProps3.xml><?xml version="1.0" encoding="utf-8"?>
<ds:datastoreItem xmlns:ds="http://schemas.openxmlformats.org/officeDocument/2006/customXml" ds:itemID="{965AE48D-514E-441C-B3E4-0F65388995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3e82ec-1549-451f-8602-e778cd9faeaa"/>
    <ds:schemaRef ds:uri="5681cf83-d972-4173-942c-2819ef494f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WAM-C and LCWAM ATE Changes</Template>
  <TotalTime>267</TotalTime>
  <Words>680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Impact</vt:lpstr>
      <vt:lpstr>Poppins</vt:lpstr>
      <vt:lpstr>Poppins Light Light</vt:lpstr>
      <vt:lpstr>Office Theme</vt:lpstr>
      <vt:lpstr>PowerPoint Presentation</vt:lpstr>
      <vt:lpstr>WAM C and LCWAM Production ATE Changes</vt:lpstr>
      <vt:lpstr>WAM C and LCWAM Production Python Usage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Quintal</dc:creator>
  <cp:lastModifiedBy>Richard Quintal</cp:lastModifiedBy>
  <cp:revision>4</cp:revision>
  <dcterms:created xsi:type="dcterms:W3CDTF">2025-01-23T16:06:39Z</dcterms:created>
  <dcterms:modified xsi:type="dcterms:W3CDTF">2025-01-23T20:34:13Z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0x010100B5A5D095B479BF47BB217D4740E716E5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