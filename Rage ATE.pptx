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1" r:id="rId5"/>
    <p:sldId id="265" r:id="rId6"/>
    <p:sldId id="269" r:id="rId7"/>
    <p:sldId id="266" r:id="rId8"/>
    <p:sldId id="267" r:id="rId9"/>
    <p:sldId id="268" r:id="rId10"/>
    <p:sldId id="259" r:id="rId11"/>
    <p:sldId id="263" r:id="rId12"/>
    <p:sldId id="260" r:id="rId13"/>
    <p:sldId id="264"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44E22-0863-4715-87F8-B3E46F49070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C5DD149-32E2-47B9-AA7E-2006F4C59F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A343676-5635-44FE-B463-4C42137F1B60}"/>
              </a:ext>
            </a:extLst>
          </p:cNvPr>
          <p:cNvSpPr>
            <a:spLocks noGrp="1"/>
          </p:cNvSpPr>
          <p:nvPr>
            <p:ph type="dt" sz="half" idx="10"/>
          </p:nvPr>
        </p:nvSpPr>
        <p:spPr/>
        <p:txBody>
          <a:bodyPr/>
          <a:lstStyle/>
          <a:p>
            <a:fld id="{B3CAFD05-F647-4F28-B380-302268FBB3B0}" type="datetimeFigureOut">
              <a:rPr lang="en-US" smtClean="0"/>
              <a:t>9/28/2021</a:t>
            </a:fld>
            <a:endParaRPr lang="en-US"/>
          </a:p>
        </p:txBody>
      </p:sp>
      <p:sp>
        <p:nvSpPr>
          <p:cNvPr id="5" name="Footer Placeholder 4">
            <a:extLst>
              <a:ext uri="{FF2B5EF4-FFF2-40B4-BE49-F238E27FC236}">
                <a16:creationId xmlns:a16="http://schemas.microsoft.com/office/drawing/2014/main" id="{F26954BE-829E-4915-A0D4-973D360FFD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4B507C-53D0-4B21-A663-BEEB95C5E6CD}"/>
              </a:ext>
            </a:extLst>
          </p:cNvPr>
          <p:cNvSpPr>
            <a:spLocks noGrp="1"/>
          </p:cNvSpPr>
          <p:nvPr>
            <p:ph type="sldNum" sz="quarter" idx="12"/>
          </p:nvPr>
        </p:nvSpPr>
        <p:spPr/>
        <p:txBody>
          <a:bodyPr/>
          <a:lstStyle/>
          <a:p>
            <a:fld id="{195B8E75-686F-4BE7-9D55-020FAAC2A2C1}" type="slidenum">
              <a:rPr lang="en-US" smtClean="0"/>
              <a:t>‹#›</a:t>
            </a:fld>
            <a:endParaRPr lang="en-US"/>
          </a:p>
        </p:txBody>
      </p:sp>
    </p:spTree>
    <p:extLst>
      <p:ext uri="{BB962C8B-B14F-4D97-AF65-F5344CB8AC3E}">
        <p14:creationId xmlns:p14="http://schemas.microsoft.com/office/powerpoint/2010/main" val="3976934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CA76D-AA90-4F8A-A14A-5FBEFB0E9A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A59072-1212-4C73-9076-43FE1A97B5C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E37BF-4FAA-42BF-982F-4802A06C7F48}"/>
              </a:ext>
            </a:extLst>
          </p:cNvPr>
          <p:cNvSpPr>
            <a:spLocks noGrp="1"/>
          </p:cNvSpPr>
          <p:nvPr>
            <p:ph type="dt" sz="half" idx="10"/>
          </p:nvPr>
        </p:nvSpPr>
        <p:spPr/>
        <p:txBody>
          <a:bodyPr/>
          <a:lstStyle/>
          <a:p>
            <a:fld id="{B3CAFD05-F647-4F28-B380-302268FBB3B0}" type="datetimeFigureOut">
              <a:rPr lang="en-US" smtClean="0"/>
              <a:t>9/28/2021</a:t>
            </a:fld>
            <a:endParaRPr lang="en-US"/>
          </a:p>
        </p:txBody>
      </p:sp>
      <p:sp>
        <p:nvSpPr>
          <p:cNvPr id="5" name="Footer Placeholder 4">
            <a:extLst>
              <a:ext uri="{FF2B5EF4-FFF2-40B4-BE49-F238E27FC236}">
                <a16:creationId xmlns:a16="http://schemas.microsoft.com/office/drawing/2014/main" id="{16104B40-B878-4920-86FB-E2D7986EF6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986F08-767D-44E0-93F0-8AC031F96C0B}"/>
              </a:ext>
            </a:extLst>
          </p:cNvPr>
          <p:cNvSpPr>
            <a:spLocks noGrp="1"/>
          </p:cNvSpPr>
          <p:nvPr>
            <p:ph type="sldNum" sz="quarter" idx="12"/>
          </p:nvPr>
        </p:nvSpPr>
        <p:spPr/>
        <p:txBody>
          <a:bodyPr/>
          <a:lstStyle/>
          <a:p>
            <a:fld id="{195B8E75-686F-4BE7-9D55-020FAAC2A2C1}" type="slidenum">
              <a:rPr lang="en-US" smtClean="0"/>
              <a:t>‹#›</a:t>
            </a:fld>
            <a:endParaRPr lang="en-US"/>
          </a:p>
        </p:txBody>
      </p:sp>
    </p:spTree>
    <p:extLst>
      <p:ext uri="{BB962C8B-B14F-4D97-AF65-F5344CB8AC3E}">
        <p14:creationId xmlns:p14="http://schemas.microsoft.com/office/powerpoint/2010/main" val="3402706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A78AC-B514-4BC3-8BB1-AF8ED094B6E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EA11E55-2D0E-43C7-8DFE-ACFDE9EBE4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F73A811-1A11-4DF8-AC85-BE2DD1D3C518}"/>
              </a:ext>
            </a:extLst>
          </p:cNvPr>
          <p:cNvSpPr>
            <a:spLocks noGrp="1"/>
          </p:cNvSpPr>
          <p:nvPr>
            <p:ph type="dt" sz="half" idx="10"/>
          </p:nvPr>
        </p:nvSpPr>
        <p:spPr/>
        <p:txBody>
          <a:bodyPr/>
          <a:lstStyle/>
          <a:p>
            <a:fld id="{B3CAFD05-F647-4F28-B380-302268FBB3B0}" type="datetimeFigureOut">
              <a:rPr lang="en-US" smtClean="0"/>
              <a:t>9/28/2021</a:t>
            </a:fld>
            <a:endParaRPr lang="en-US"/>
          </a:p>
        </p:txBody>
      </p:sp>
      <p:sp>
        <p:nvSpPr>
          <p:cNvPr id="5" name="Footer Placeholder 4">
            <a:extLst>
              <a:ext uri="{FF2B5EF4-FFF2-40B4-BE49-F238E27FC236}">
                <a16:creationId xmlns:a16="http://schemas.microsoft.com/office/drawing/2014/main" id="{F69EEF02-F754-4F3E-B481-53822DF29D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1E73F7-7FCB-45F1-98FC-1F9C1EB8E49A}"/>
              </a:ext>
            </a:extLst>
          </p:cNvPr>
          <p:cNvSpPr>
            <a:spLocks noGrp="1"/>
          </p:cNvSpPr>
          <p:nvPr>
            <p:ph type="sldNum" sz="quarter" idx="12"/>
          </p:nvPr>
        </p:nvSpPr>
        <p:spPr/>
        <p:txBody>
          <a:bodyPr/>
          <a:lstStyle/>
          <a:p>
            <a:fld id="{195B8E75-686F-4BE7-9D55-020FAAC2A2C1}" type="slidenum">
              <a:rPr lang="en-US" smtClean="0"/>
              <a:t>‹#›</a:t>
            </a:fld>
            <a:endParaRPr lang="en-US"/>
          </a:p>
        </p:txBody>
      </p:sp>
    </p:spTree>
    <p:extLst>
      <p:ext uri="{BB962C8B-B14F-4D97-AF65-F5344CB8AC3E}">
        <p14:creationId xmlns:p14="http://schemas.microsoft.com/office/powerpoint/2010/main" val="1634197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D4315-B253-409A-B394-52E78BD7863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824839-067E-4943-9FEA-81683DBDA57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83EAE5-B202-4D2E-B325-73085C59E45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DC963C8-2957-48C6-B04B-B229F3EBC64D}"/>
              </a:ext>
            </a:extLst>
          </p:cNvPr>
          <p:cNvSpPr>
            <a:spLocks noGrp="1"/>
          </p:cNvSpPr>
          <p:nvPr>
            <p:ph type="dt" sz="half" idx="10"/>
          </p:nvPr>
        </p:nvSpPr>
        <p:spPr/>
        <p:txBody>
          <a:bodyPr/>
          <a:lstStyle/>
          <a:p>
            <a:fld id="{B3CAFD05-F647-4F28-B380-302268FBB3B0}" type="datetimeFigureOut">
              <a:rPr lang="en-US" smtClean="0"/>
              <a:t>9/28/2021</a:t>
            </a:fld>
            <a:endParaRPr lang="en-US"/>
          </a:p>
        </p:txBody>
      </p:sp>
      <p:sp>
        <p:nvSpPr>
          <p:cNvPr id="6" name="Footer Placeholder 5">
            <a:extLst>
              <a:ext uri="{FF2B5EF4-FFF2-40B4-BE49-F238E27FC236}">
                <a16:creationId xmlns:a16="http://schemas.microsoft.com/office/drawing/2014/main" id="{520E8368-561F-49DB-A5F1-3AB1F4814A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B1861C-C579-472C-808F-464185BB930F}"/>
              </a:ext>
            </a:extLst>
          </p:cNvPr>
          <p:cNvSpPr>
            <a:spLocks noGrp="1"/>
          </p:cNvSpPr>
          <p:nvPr>
            <p:ph type="sldNum" sz="quarter" idx="12"/>
          </p:nvPr>
        </p:nvSpPr>
        <p:spPr/>
        <p:txBody>
          <a:bodyPr/>
          <a:lstStyle/>
          <a:p>
            <a:fld id="{195B8E75-686F-4BE7-9D55-020FAAC2A2C1}" type="slidenum">
              <a:rPr lang="en-US" smtClean="0"/>
              <a:t>‹#›</a:t>
            </a:fld>
            <a:endParaRPr lang="en-US"/>
          </a:p>
        </p:txBody>
      </p:sp>
    </p:spTree>
    <p:extLst>
      <p:ext uri="{BB962C8B-B14F-4D97-AF65-F5344CB8AC3E}">
        <p14:creationId xmlns:p14="http://schemas.microsoft.com/office/powerpoint/2010/main" val="2862425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B4E59-1805-4F84-8676-B8AFF7B75B0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03701FE-1482-43BA-ADEE-D33FAF9986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9D924AC-AC4F-4158-B401-C0FFE3E78FE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B51B20D-089C-4312-87F3-FA94B91D6D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80BF020-72EF-45B9-A4E5-E4FAEF514E6E}"/>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5742AAE-A680-44E1-AC20-684477B0C29B}"/>
              </a:ext>
            </a:extLst>
          </p:cNvPr>
          <p:cNvSpPr>
            <a:spLocks noGrp="1"/>
          </p:cNvSpPr>
          <p:nvPr>
            <p:ph type="dt" sz="half" idx="10"/>
          </p:nvPr>
        </p:nvSpPr>
        <p:spPr/>
        <p:txBody>
          <a:bodyPr/>
          <a:lstStyle/>
          <a:p>
            <a:fld id="{B3CAFD05-F647-4F28-B380-302268FBB3B0}" type="datetimeFigureOut">
              <a:rPr lang="en-US" smtClean="0"/>
              <a:t>9/28/2021</a:t>
            </a:fld>
            <a:endParaRPr lang="en-US"/>
          </a:p>
        </p:txBody>
      </p:sp>
      <p:sp>
        <p:nvSpPr>
          <p:cNvPr id="8" name="Footer Placeholder 7">
            <a:extLst>
              <a:ext uri="{FF2B5EF4-FFF2-40B4-BE49-F238E27FC236}">
                <a16:creationId xmlns:a16="http://schemas.microsoft.com/office/drawing/2014/main" id="{8B726671-CA1A-4E70-B2E9-50DA652C507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47791C2-C122-467F-B72E-975EAE51F57F}"/>
              </a:ext>
            </a:extLst>
          </p:cNvPr>
          <p:cNvSpPr>
            <a:spLocks noGrp="1"/>
          </p:cNvSpPr>
          <p:nvPr>
            <p:ph type="sldNum" sz="quarter" idx="12"/>
          </p:nvPr>
        </p:nvSpPr>
        <p:spPr/>
        <p:txBody>
          <a:bodyPr/>
          <a:lstStyle/>
          <a:p>
            <a:fld id="{195B8E75-686F-4BE7-9D55-020FAAC2A2C1}" type="slidenum">
              <a:rPr lang="en-US" smtClean="0"/>
              <a:t>‹#›</a:t>
            </a:fld>
            <a:endParaRPr lang="en-US"/>
          </a:p>
        </p:txBody>
      </p:sp>
    </p:spTree>
    <p:extLst>
      <p:ext uri="{BB962C8B-B14F-4D97-AF65-F5344CB8AC3E}">
        <p14:creationId xmlns:p14="http://schemas.microsoft.com/office/powerpoint/2010/main" val="2068722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459C0-7615-4967-975F-898D7A1C24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5465869-0049-48E9-A397-3C41AF14BBBB}"/>
              </a:ext>
            </a:extLst>
          </p:cNvPr>
          <p:cNvSpPr>
            <a:spLocks noGrp="1"/>
          </p:cNvSpPr>
          <p:nvPr>
            <p:ph type="dt" sz="half" idx="10"/>
          </p:nvPr>
        </p:nvSpPr>
        <p:spPr/>
        <p:txBody>
          <a:bodyPr/>
          <a:lstStyle/>
          <a:p>
            <a:fld id="{B3CAFD05-F647-4F28-B380-302268FBB3B0}" type="datetimeFigureOut">
              <a:rPr lang="en-US" smtClean="0"/>
              <a:t>9/28/2021</a:t>
            </a:fld>
            <a:endParaRPr lang="en-US"/>
          </a:p>
        </p:txBody>
      </p:sp>
      <p:sp>
        <p:nvSpPr>
          <p:cNvPr id="4" name="Footer Placeholder 3">
            <a:extLst>
              <a:ext uri="{FF2B5EF4-FFF2-40B4-BE49-F238E27FC236}">
                <a16:creationId xmlns:a16="http://schemas.microsoft.com/office/drawing/2014/main" id="{749117AB-884D-43B3-88E8-1D8DF2266AA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041D367-C485-41BB-A1F6-ED7F4E3FA924}"/>
              </a:ext>
            </a:extLst>
          </p:cNvPr>
          <p:cNvSpPr>
            <a:spLocks noGrp="1"/>
          </p:cNvSpPr>
          <p:nvPr>
            <p:ph type="sldNum" sz="quarter" idx="12"/>
          </p:nvPr>
        </p:nvSpPr>
        <p:spPr/>
        <p:txBody>
          <a:bodyPr/>
          <a:lstStyle/>
          <a:p>
            <a:fld id="{195B8E75-686F-4BE7-9D55-020FAAC2A2C1}" type="slidenum">
              <a:rPr lang="en-US" smtClean="0"/>
              <a:t>‹#›</a:t>
            </a:fld>
            <a:endParaRPr lang="en-US"/>
          </a:p>
        </p:txBody>
      </p:sp>
    </p:spTree>
    <p:extLst>
      <p:ext uri="{BB962C8B-B14F-4D97-AF65-F5344CB8AC3E}">
        <p14:creationId xmlns:p14="http://schemas.microsoft.com/office/powerpoint/2010/main" val="4132743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8341B2-5B46-4F21-8C03-10CE77AE6B4C}"/>
              </a:ext>
            </a:extLst>
          </p:cNvPr>
          <p:cNvSpPr>
            <a:spLocks noGrp="1"/>
          </p:cNvSpPr>
          <p:nvPr>
            <p:ph type="dt" sz="half" idx="10"/>
          </p:nvPr>
        </p:nvSpPr>
        <p:spPr/>
        <p:txBody>
          <a:bodyPr/>
          <a:lstStyle/>
          <a:p>
            <a:fld id="{B3CAFD05-F647-4F28-B380-302268FBB3B0}" type="datetimeFigureOut">
              <a:rPr lang="en-US" smtClean="0"/>
              <a:t>9/28/2021</a:t>
            </a:fld>
            <a:endParaRPr lang="en-US"/>
          </a:p>
        </p:txBody>
      </p:sp>
      <p:sp>
        <p:nvSpPr>
          <p:cNvPr id="3" name="Footer Placeholder 2">
            <a:extLst>
              <a:ext uri="{FF2B5EF4-FFF2-40B4-BE49-F238E27FC236}">
                <a16:creationId xmlns:a16="http://schemas.microsoft.com/office/drawing/2014/main" id="{0F39DADD-B3E2-4D4E-A5F8-B17F3B823E7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3AA48B0-D6AB-4D81-867D-E265789C17A5}"/>
              </a:ext>
            </a:extLst>
          </p:cNvPr>
          <p:cNvSpPr>
            <a:spLocks noGrp="1"/>
          </p:cNvSpPr>
          <p:nvPr>
            <p:ph type="sldNum" sz="quarter" idx="12"/>
          </p:nvPr>
        </p:nvSpPr>
        <p:spPr/>
        <p:txBody>
          <a:bodyPr/>
          <a:lstStyle/>
          <a:p>
            <a:fld id="{195B8E75-686F-4BE7-9D55-020FAAC2A2C1}" type="slidenum">
              <a:rPr lang="en-US" smtClean="0"/>
              <a:t>‹#›</a:t>
            </a:fld>
            <a:endParaRPr lang="en-US"/>
          </a:p>
        </p:txBody>
      </p:sp>
    </p:spTree>
    <p:extLst>
      <p:ext uri="{BB962C8B-B14F-4D97-AF65-F5344CB8AC3E}">
        <p14:creationId xmlns:p14="http://schemas.microsoft.com/office/powerpoint/2010/main" val="2150288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DF0AC-D3DF-4C70-97B3-A666988DB6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21E1286-E209-4AE5-81B7-60C53EEC3E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F907E89-6B8E-40AC-992D-45E88EBB0F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D5601B9-5F34-40B3-9E91-EFFBE384B9EB}"/>
              </a:ext>
            </a:extLst>
          </p:cNvPr>
          <p:cNvSpPr>
            <a:spLocks noGrp="1"/>
          </p:cNvSpPr>
          <p:nvPr>
            <p:ph type="dt" sz="half" idx="10"/>
          </p:nvPr>
        </p:nvSpPr>
        <p:spPr/>
        <p:txBody>
          <a:bodyPr/>
          <a:lstStyle/>
          <a:p>
            <a:fld id="{B3CAFD05-F647-4F28-B380-302268FBB3B0}" type="datetimeFigureOut">
              <a:rPr lang="en-US" smtClean="0"/>
              <a:t>9/28/2021</a:t>
            </a:fld>
            <a:endParaRPr lang="en-US"/>
          </a:p>
        </p:txBody>
      </p:sp>
      <p:sp>
        <p:nvSpPr>
          <p:cNvPr id="6" name="Footer Placeholder 5">
            <a:extLst>
              <a:ext uri="{FF2B5EF4-FFF2-40B4-BE49-F238E27FC236}">
                <a16:creationId xmlns:a16="http://schemas.microsoft.com/office/drawing/2014/main" id="{A50976CA-8344-4809-BEF9-F6CFC79430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4330A7-F5F3-4E5A-9358-00795F327ECA}"/>
              </a:ext>
            </a:extLst>
          </p:cNvPr>
          <p:cNvSpPr>
            <a:spLocks noGrp="1"/>
          </p:cNvSpPr>
          <p:nvPr>
            <p:ph type="sldNum" sz="quarter" idx="12"/>
          </p:nvPr>
        </p:nvSpPr>
        <p:spPr/>
        <p:txBody>
          <a:bodyPr/>
          <a:lstStyle/>
          <a:p>
            <a:fld id="{195B8E75-686F-4BE7-9D55-020FAAC2A2C1}" type="slidenum">
              <a:rPr lang="en-US" smtClean="0"/>
              <a:t>‹#›</a:t>
            </a:fld>
            <a:endParaRPr lang="en-US"/>
          </a:p>
        </p:txBody>
      </p:sp>
    </p:spTree>
    <p:extLst>
      <p:ext uri="{BB962C8B-B14F-4D97-AF65-F5344CB8AC3E}">
        <p14:creationId xmlns:p14="http://schemas.microsoft.com/office/powerpoint/2010/main" val="16899976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B1567-4D65-4990-8813-8A6E693079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7B6D4F-2C1E-40CD-9D4D-4943314711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1326172-AF77-4BC8-8F3E-E04004C971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6103271-51A0-49EE-ABA9-0C6EBFB29C14}"/>
              </a:ext>
            </a:extLst>
          </p:cNvPr>
          <p:cNvSpPr>
            <a:spLocks noGrp="1"/>
          </p:cNvSpPr>
          <p:nvPr>
            <p:ph type="dt" sz="half" idx="10"/>
          </p:nvPr>
        </p:nvSpPr>
        <p:spPr/>
        <p:txBody>
          <a:bodyPr/>
          <a:lstStyle/>
          <a:p>
            <a:fld id="{B3CAFD05-F647-4F28-B380-302268FBB3B0}" type="datetimeFigureOut">
              <a:rPr lang="en-US" smtClean="0"/>
              <a:t>9/28/2021</a:t>
            </a:fld>
            <a:endParaRPr lang="en-US"/>
          </a:p>
        </p:txBody>
      </p:sp>
      <p:sp>
        <p:nvSpPr>
          <p:cNvPr id="6" name="Footer Placeholder 5">
            <a:extLst>
              <a:ext uri="{FF2B5EF4-FFF2-40B4-BE49-F238E27FC236}">
                <a16:creationId xmlns:a16="http://schemas.microsoft.com/office/drawing/2014/main" id="{AD1DD238-5746-4ED3-A261-BE54582BB2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18FE94-93A7-46A8-B301-CD160C0581CD}"/>
              </a:ext>
            </a:extLst>
          </p:cNvPr>
          <p:cNvSpPr>
            <a:spLocks noGrp="1"/>
          </p:cNvSpPr>
          <p:nvPr>
            <p:ph type="sldNum" sz="quarter" idx="12"/>
          </p:nvPr>
        </p:nvSpPr>
        <p:spPr/>
        <p:txBody>
          <a:bodyPr/>
          <a:lstStyle/>
          <a:p>
            <a:fld id="{195B8E75-686F-4BE7-9D55-020FAAC2A2C1}" type="slidenum">
              <a:rPr lang="en-US" smtClean="0"/>
              <a:t>‹#›</a:t>
            </a:fld>
            <a:endParaRPr lang="en-US"/>
          </a:p>
        </p:txBody>
      </p:sp>
    </p:spTree>
    <p:extLst>
      <p:ext uri="{BB962C8B-B14F-4D97-AF65-F5344CB8AC3E}">
        <p14:creationId xmlns:p14="http://schemas.microsoft.com/office/powerpoint/2010/main" val="2447311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AA679-DA34-45A0-8434-7F4D8B5761C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C7F1C95-0FB1-4DF6-991C-02B6FD51A8F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8D2A58-7AE9-4B58-8DD2-724BCB56CF69}"/>
              </a:ext>
            </a:extLst>
          </p:cNvPr>
          <p:cNvSpPr>
            <a:spLocks noGrp="1"/>
          </p:cNvSpPr>
          <p:nvPr>
            <p:ph type="dt" sz="half" idx="10"/>
          </p:nvPr>
        </p:nvSpPr>
        <p:spPr/>
        <p:txBody>
          <a:bodyPr/>
          <a:lstStyle/>
          <a:p>
            <a:fld id="{B3CAFD05-F647-4F28-B380-302268FBB3B0}" type="datetimeFigureOut">
              <a:rPr lang="en-US" smtClean="0"/>
              <a:t>9/28/2021</a:t>
            </a:fld>
            <a:endParaRPr lang="en-US"/>
          </a:p>
        </p:txBody>
      </p:sp>
      <p:sp>
        <p:nvSpPr>
          <p:cNvPr id="5" name="Footer Placeholder 4">
            <a:extLst>
              <a:ext uri="{FF2B5EF4-FFF2-40B4-BE49-F238E27FC236}">
                <a16:creationId xmlns:a16="http://schemas.microsoft.com/office/drawing/2014/main" id="{289507D5-7900-4001-B028-52A715718B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A5E442-7FEF-4ACC-9082-369B24242D7E}"/>
              </a:ext>
            </a:extLst>
          </p:cNvPr>
          <p:cNvSpPr>
            <a:spLocks noGrp="1"/>
          </p:cNvSpPr>
          <p:nvPr>
            <p:ph type="sldNum" sz="quarter" idx="12"/>
          </p:nvPr>
        </p:nvSpPr>
        <p:spPr/>
        <p:txBody>
          <a:bodyPr/>
          <a:lstStyle/>
          <a:p>
            <a:fld id="{195B8E75-686F-4BE7-9D55-020FAAC2A2C1}" type="slidenum">
              <a:rPr lang="en-US" smtClean="0"/>
              <a:t>‹#›</a:t>
            </a:fld>
            <a:endParaRPr lang="en-US"/>
          </a:p>
        </p:txBody>
      </p:sp>
    </p:spTree>
    <p:extLst>
      <p:ext uri="{BB962C8B-B14F-4D97-AF65-F5344CB8AC3E}">
        <p14:creationId xmlns:p14="http://schemas.microsoft.com/office/powerpoint/2010/main" val="2588506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43B792-2920-4983-AF1A-1B68D854DA1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DEB1238-9B3B-4AB9-842A-4B176B5C80C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5AC99B-A1CF-4EDC-AE9B-592BD9B7FAAF}"/>
              </a:ext>
            </a:extLst>
          </p:cNvPr>
          <p:cNvSpPr>
            <a:spLocks noGrp="1"/>
          </p:cNvSpPr>
          <p:nvPr>
            <p:ph type="dt" sz="half" idx="10"/>
          </p:nvPr>
        </p:nvSpPr>
        <p:spPr/>
        <p:txBody>
          <a:bodyPr/>
          <a:lstStyle/>
          <a:p>
            <a:fld id="{B3CAFD05-F647-4F28-B380-302268FBB3B0}" type="datetimeFigureOut">
              <a:rPr lang="en-US" smtClean="0"/>
              <a:t>9/28/2021</a:t>
            </a:fld>
            <a:endParaRPr lang="en-US"/>
          </a:p>
        </p:txBody>
      </p:sp>
      <p:sp>
        <p:nvSpPr>
          <p:cNvPr id="5" name="Footer Placeholder 4">
            <a:extLst>
              <a:ext uri="{FF2B5EF4-FFF2-40B4-BE49-F238E27FC236}">
                <a16:creationId xmlns:a16="http://schemas.microsoft.com/office/drawing/2014/main" id="{1AA696E0-1FB8-4D0F-A1AE-D19EB7C0B8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35AC04-4398-46A1-9C14-C3C371E5A41B}"/>
              </a:ext>
            </a:extLst>
          </p:cNvPr>
          <p:cNvSpPr>
            <a:spLocks noGrp="1"/>
          </p:cNvSpPr>
          <p:nvPr>
            <p:ph type="sldNum" sz="quarter" idx="12"/>
          </p:nvPr>
        </p:nvSpPr>
        <p:spPr/>
        <p:txBody>
          <a:bodyPr/>
          <a:lstStyle/>
          <a:p>
            <a:fld id="{195B8E75-686F-4BE7-9D55-020FAAC2A2C1}" type="slidenum">
              <a:rPr lang="en-US" smtClean="0"/>
              <a:t>‹#›</a:t>
            </a:fld>
            <a:endParaRPr lang="en-US"/>
          </a:p>
        </p:txBody>
      </p:sp>
    </p:spTree>
    <p:extLst>
      <p:ext uri="{BB962C8B-B14F-4D97-AF65-F5344CB8AC3E}">
        <p14:creationId xmlns:p14="http://schemas.microsoft.com/office/powerpoint/2010/main" val="35574516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B48E69-2F38-42C2-90ED-0E759ACB86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48EC48B-1088-4713-999F-F29B7C3D7D9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B4F60B-FAFF-4D49-8A73-E1603875F6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CAFD05-F647-4F28-B380-302268FBB3B0}" type="datetimeFigureOut">
              <a:rPr lang="en-US" smtClean="0"/>
              <a:t>9/28/2021</a:t>
            </a:fld>
            <a:endParaRPr lang="en-US"/>
          </a:p>
        </p:txBody>
      </p:sp>
      <p:sp>
        <p:nvSpPr>
          <p:cNvPr id="5" name="Footer Placeholder 4">
            <a:extLst>
              <a:ext uri="{FF2B5EF4-FFF2-40B4-BE49-F238E27FC236}">
                <a16:creationId xmlns:a16="http://schemas.microsoft.com/office/drawing/2014/main" id="{3E4F06E9-84AC-4EA7-BD16-C9176BD9E8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B955A47-4BBC-4984-87CF-6365B89FD8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5B8E75-686F-4BE7-9D55-020FAAC2A2C1}" type="slidenum">
              <a:rPr lang="en-US" smtClean="0"/>
              <a:t>‹#›</a:t>
            </a:fld>
            <a:endParaRPr lang="en-US"/>
          </a:p>
        </p:txBody>
      </p:sp>
    </p:spTree>
    <p:extLst>
      <p:ext uri="{BB962C8B-B14F-4D97-AF65-F5344CB8AC3E}">
        <p14:creationId xmlns:p14="http://schemas.microsoft.com/office/powerpoint/2010/main" val="35383913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9C12C-C311-4CC2-AF14-29AB3134E5BB}"/>
              </a:ext>
            </a:extLst>
          </p:cNvPr>
          <p:cNvSpPr>
            <a:spLocks noGrp="1"/>
          </p:cNvSpPr>
          <p:nvPr>
            <p:ph type="ctrTitle"/>
          </p:nvPr>
        </p:nvSpPr>
        <p:spPr/>
        <p:txBody>
          <a:bodyPr/>
          <a:lstStyle/>
          <a:p>
            <a:r>
              <a:rPr lang="en-US" dirty="0"/>
              <a:t>Rage ATE</a:t>
            </a:r>
          </a:p>
        </p:txBody>
      </p:sp>
      <p:sp>
        <p:nvSpPr>
          <p:cNvPr id="3" name="Subtitle 2">
            <a:extLst>
              <a:ext uri="{FF2B5EF4-FFF2-40B4-BE49-F238E27FC236}">
                <a16:creationId xmlns:a16="http://schemas.microsoft.com/office/drawing/2014/main" id="{C661A298-C923-4946-AFBE-64DE725FD2E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1571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4F0CC-DC02-4A6A-B86B-90E5A07C624F}"/>
              </a:ext>
            </a:extLst>
          </p:cNvPr>
          <p:cNvSpPr>
            <a:spLocks noGrp="1"/>
          </p:cNvSpPr>
          <p:nvPr>
            <p:ph type="title"/>
          </p:nvPr>
        </p:nvSpPr>
        <p:spPr/>
        <p:txBody>
          <a:bodyPr/>
          <a:lstStyle/>
          <a:p>
            <a:r>
              <a:rPr lang="en-US" dirty="0"/>
              <a:t>Rage ATE</a:t>
            </a:r>
          </a:p>
        </p:txBody>
      </p:sp>
      <p:sp>
        <p:nvSpPr>
          <p:cNvPr id="3" name="Content Placeholder 2">
            <a:extLst>
              <a:ext uri="{FF2B5EF4-FFF2-40B4-BE49-F238E27FC236}">
                <a16:creationId xmlns:a16="http://schemas.microsoft.com/office/drawing/2014/main" id="{B868D9E8-95B6-4F49-8C8B-FA4360CAD307}"/>
              </a:ext>
            </a:extLst>
          </p:cNvPr>
          <p:cNvSpPr>
            <a:spLocks noGrp="1"/>
          </p:cNvSpPr>
          <p:nvPr>
            <p:ph idx="1"/>
          </p:nvPr>
        </p:nvSpPr>
        <p:spPr/>
        <p:txBody>
          <a:bodyPr/>
          <a:lstStyle/>
          <a:p>
            <a:r>
              <a:rPr lang="en-US" dirty="0"/>
              <a:t>Purpose: Automate the collection of data for Rage products</a:t>
            </a:r>
          </a:p>
          <a:p>
            <a:r>
              <a:rPr lang="en-US" dirty="0"/>
              <a:t>Platform: </a:t>
            </a:r>
            <a:r>
              <a:rPr lang="en-US" dirty="0" err="1"/>
              <a:t>Labview</a:t>
            </a:r>
            <a:r>
              <a:rPr lang="en-US" dirty="0"/>
              <a:t> 2018 32bit</a:t>
            </a:r>
          </a:p>
          <a:p>
            <a:r>
              <a:rPr lang="en-US" dirty="0"/>
              <a:t>ATE Testing type : Nested Loop </a:t>
            </a:r>
          </a:p>
        </p:txBody>
      </p:sp>
    </p:spTree>
    <p:extLst>
      <p:ext uri="{BB962C8B-B14F-4D97-AF65-F5344CB8AC3E}">
        <p14:creationId xmlns:p14="http://schemas.microsoft.com/office/powerpoint/2010/main" val="26276509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F43BF-7847-4A65-AEAE-40A44CBB5F36}"/>
              </a:ext>
            </a:extLst>
          </p:cNvPr>
          <p:cNvSpPr>
            <a:spLocks noGrp="1"/>
          </p:cNvSpPr>
          <p:nvPr>
            <p:ph type="title"/>
          </p:nvPr>
        </p:nvSpPr>
        <p:spPr/>
        <p:txBody>
          <a:bodyPr/>
          <a:lstStyle/>
          <a:p>
            <a:r>
              <a:rPr lang="en-US" dirty="0"/>
              <a:t>Rage ATE</a:t>
            </a:r>
          </a:p>
        </p:txBody>
      </p:sp>
      <p:sp>
        <p:nvSpPr>
          <p:cNvPr id="3" name="Content Placeholder 2">
            <a:extLst>
              <a:ext uri="{FF2B5EF4-FFF2-40B4-BE49-F238E27FC236}">
                <a16:creationId xmlns:a16="http://schemas.microsoft.com/office/drawing/2014/main" id="{2EE0C61F-9DCD-4C83-8B55-DCC464D964EC}"/>
              </a:ext>
            </a:extLst>
          </p:cNvPr>
          <p:cNvSpPr>
            <a:spLocks noGrp="1"/>
          </p:cNvSpPr>
          <p:nvPr>
            <p:ph idx="1"/>
          </p:nvPr>
        </p:nvSpPr>
        <p:spPr>
          <a:xfrm>
            <a:off x="838200" y="1825625"/>
            <a:ext cx="10143478" cy="4351338"/>
          </a:xfrm>
        </p:spPr>
        <p:txBody>
          <a:bodyPr>
            <a:normAutofit/>
          </a:bodyPr>
          <a:lstStyle/>
          <a:p>
            <a:r>
              <a:rPr lang="en-US" dirty="0"/>
              <a:t>Components</a:t>
            </a:r>
          </a:p>
          <a:p>
            <a:pPr lvl="1"/>
            <a:r>
              <a:rPr lang="en-US" dirty="0"/>
              <a:t>Sequencer: GUI and interface to user. Controls the sequence in which the SW will execute a test from Beginning to End. How a test is sequenced is controlled by the programmer. A test can be constructed by dragging any sequence of Vis into the sequencers execution control. A different sequence name will be used for each test. The sequence can eventually become a check box in a test executive type GUI.</a:t>
            </a:r>
          </a:p>
          <a:p>
            <a:endParaRPr lang="en-US" dirty="0"/>
          </a:p>
          <a:p>
            <a:pPr marL="457200" lvl="1" indent="0">
              <a:buNone/>
            </a:pPr>
            <a:endParaRPr lang="en-US" dirty="0"/>
          </a:p>
          <a:p>
            <a:pPr marL="457200" lvl="1" indent="0">
              <a:buNone/>
            </a:pPr>
            <a:endParaRPr lang="en-US" dirty="0"/>
          </a:p>
        </p:txBody>
      </p:sp>
    </p:spTree>
    <p:extLst>
      <p:ext uri="{BB962C8B-B14F-4D97-AF65-F5344CB8AC3E}">
        <p14:creationId xmlns:p14="http://schemas.microsoft.com/office/powerpoint/2010/main" val="774509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Picture 36">
            <a:extLst>
              <a:ext uri="{FF2B5EF4-FFF2-40B4-BE49-F238E27FC236}">
                <a16:creationId xmlns:a16="http://schemas.microsoft.com/office/drawing/2014/main" id="{91522DC9-6252-438F-9800-D6C462197412}"/>
              </a:ext>
            </a:extLst>
          </p:cNvPr>
          <p:cNvPicPr>
            <a:picLocks noChangeAspect="1"/>
          </p:cNvPicPr>
          <p:nvPr/>
        </p:nvPicPr>
        <p:blipFill>
          <a:blip r:embed="rId2"/>
          <a:stretch>
            <a:fillRect/>
          </a:stretch>
        </p:blipFill>
        <p:spPr>
          <a:xfrm>
            <a:off x="522625" y="497149"/>
            <a:ext cx="7028298" cy="5725975"/>
          </a:xfrm>
          <a:prstGeom prst="rect">
            <a:avLst/>
          </a:prstGeom>
        </p:spPr>
      </p:pic>
      <p:sp>
        <p:nvSpPr>
          <p:cNvPr id="2" name="TextBox 1">
            <a:extLst>
              <a:ext uri="{FF2B5EF4-FFF2-40B4-BE49-F238E27FC236}">
                <a16:creationId xmlns:a16="http://schemas.microsoft.com/office/drawing/2014/main" id="{949D491B-CEB3-422F-9DB1-01A8B887C134}"/>
              </a:ext>
            </a:extLst>
          </p:cNvPr>
          <p:cNvSpPr txBox="1"/>
          <p:nvPr/>
        </p:nvSpPr>
        <p:spPr>
          <a:xfrm>
            <a:off x="1686757" y="127818"/>
            <a:ext cx="3976794" cy="369332"/>
          </a:xfrm>
          <a:prstGeom prst="rect">
            <a:avLst/>
          </a:prstGeom>
          <a:noFill/>
        </p:spPr>
        <p:txBody>
          <a:bodyPr wrap="none" rtlCol="0">
            <a:spAutoFit/>
          </a:bodyPr>
          <a:lstStyle/>
          <a:p>
            <a:r>
              <a:rPr lang="en-US" dirty="0"/>
              <a:t>Front page Tab (User Page) of sequencer</a:t>
            </a:r>
          </a:p>
        </p:txBody>
      </p:sp>
      <p:cxnSp>
        <p:nvCxnSpPr>
          <p:cNvPr id="6" name="Straight Arrow Connector 5">
            <a:extLst>
              <a:ext uri="{FF2B5EF4-FFF2-40B4-BE49-F238E27FC236}">
                <a16:creationId xmlns:a16="http://schemas.microsoft.com/office/drawing/2014/main" id="{938C1AA2-A759-42D7-A217-63AE8D8C96EF}"/>
              </a:ext>
            </a:extLst>
          </p:cNvPr>
          <p:cNvCxnSpPr>
            <a:cxnSpLocks/>
          </p:cNvCxnSpPr>
          <p:nvPr/>
        </p:nvCxnSpPr>
        <p:spPr>
          <a:xfrm flipH="1">
            <a:off x="6809173" y="1233996"/>
            <a:ext cx="1136342" cy="23969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 name="Straight Arrow Connector 8">
            <a:extLst>
              <a:ext uri="{FF2B5EF4-FFF2-40B4-BE49-F238E27FC236}">
                <a16:creationId xmlns:a16="http://schemas.microsoft.com/office/drawing/2014/main" id="{9307D027-B3EB-4242-A7F8-EA9A96DB6EAA}"/>
              </a:ext>
            </a:extLst>
          </p:cNvPr>
          <p:cNvCxnSpPr>
            <a:cxnSpLocks/>
          </p:cNvCxnSpPr>
          <p:nvPr/>
        </p:nvCxnSpPr>
        <p:spPr>
          <a:xfrm flipH="1">
            <a:off x="6809173" y="1897199"/>
            <a:ext cx="1136342" cy="23969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0" name="TextBox 9">
            <a:extLst>
              <a:ext uri="{FF2B5EF4-FFF2-40B4-BE49-F238E27FC236}">
                <a16:creationId xmlns:a16="http://schemas.microsoft.com/office/drawing/2014/main" id="{CCA43C79-7192-4BFF-B057-5F6687892426}"/>
              </a:ext>
            </a:extLst>
          </p:cNvPr>
          <p:cNvSpPr txBox="1"/>
          <p:nvPr/>
        </p:nvSpPr>
        <p:spPr>
          <a:xfrm>
            <a:off x="7945515" y="1098195"/>
            <a:ext cx="3286541" cy="276999"/>
          </a:xfrm>
          <a:prstGeom prst="rect">
            <a:avLst/>
          </a:prstGeom>
          <a:noFill/>
        </p:spPr>
        <p:txBody>
          <a:bodyPr wrap="none" rtlCol="0">
            <a:spAutoFit/>
          </a:bodyPr>
          <a:lstStyle/>
          <a:p>
            <a:r>
              <a:rPr lang="en-US" sz="1200" b="1" dirty="0"/>
              <a:t>Instrument File (.csv)use for all tests in sequence</a:t>
            </a:r>
          </a:p>
        </p:txBody>
      </p:sp>
      <p:sp>
        <p:nvSpPr>
          <p:cNvPr id="11" name="TextBox 10">
            <a:extLst>
              <a:ext uri="{FF2B5EF4-FFF2-40B4-BE49-F238E27FC236}">
                <a16:creationId xmlns:a16="http://schemas.microsoft.com/office/drawing/2014/main" id="{D9862289-CE84-4BC8-80C7-0010065A1F88}"/>
              </a:ext>
            </a:extLst>
          </p:cNvPr>
          <p:cNvSpPr txBox="1"/>
          <p:nvPr/>
        </p:nvSpPr>
        <p:spPr>
          <a:xfrm>
            <a:off x="8034291" y="1712533"/>
            <a:ext cx="1789657" cy="461665"/>
          </a:xfrm>
          <a:prstGeom prst="rect">
            <a:avLst/>
          </a:prstGeom>
          <a:noFill/>
        </p:spPr>
        <p:txBody>
          <a:bodyPr wrap="none" rtlCol="0">
            <a:spAutoFit/>
          </a:bodyPr>
          <a:lstStyle/>
          <a:p>
            <a:r>
              <a:rPr lang="en-US" sz="1200" b="1" dirty="0"/>
              <a:t>Test Parameters File (.</a:t>
            </a:r>
            <a:r>
              <a:rPr lang="en-US" sz="1200" b="1" dirty="0" err="1"/>
              <a:t>tst</a:t>
            </a:r>
            <a:r>
              <a:rPr lang="en-US" sz="1200" b="1" dirty="0"/>
              <a:t>)</a:t>
            </a:r>
          </a:p>
          <a:p>
            <a:r>
              <a:rPr lang="en-US" sz="1200" b="1" dirty="0"/>
              <a:t>Up to 8 </a:t>
            </a:r>
          </a:p>
        </p:txBody>
      </p:sp>
      <p:sp>
        <p:nvSpPr>
          <p:cNvPr id="12" name="TextBox 11">
            <a:extLst>
              <a:ext uri="{FF2B5EF4-FFF2-40B4-BE49-F238E27FC236}">
                <a16:creationId xmlns:a16="http://schemas.microsoft.com/office/drawing/2014/main" id="{A6E743DF-6257-43D9-9EA2-28FA5A8F5A89}"/>
              </a:ext>
            </a:extLst>
          </p:cNvPr>
          <p:cNvSpPr txBox="1"/>
          <p:nvPr/>
        </p:nvSpPr>
        <p:spPr>
          <a:xfrm>
            <a:off x="7759083" y="3574242"/>
            <a:ext cx="3098669" cy="276999"/>
          </a:xfrm>
          <a:prstGeom prst="rect">
            <a:avLst/>
          </a:prstGeom>
          <a:noFill/>
        </p:spPr>
        <p:txBody>
          <a:bodyPr wrap="none" rtlCol="0">
            <a:spAutoFit/>
          </a:bodyPr>
          <a:lstStyle/>
          <a:p>
            <a:r>
              <a:rPr lang="en-US" sz="1200" b="1" dirty="0"/>
              <a:t>If checked, will open each test as it completes</a:t>
            </a:r>
          </a:p>
        </p:txBody>
      </p:sp>
      <p:cxnSp>
        <p:nvCxnSpPr>
          <p:cNvPr id="13" name="Straight Arrow Connector 12">
            <a:extLst>
              <a:ext uri="{FF2B5EF4-FFF2-40B4-BE49-F238E27FC236}">
                <a16:creationId xmlns:a16="http://schemas.microsoft.com/office/drawing/2014/main" id="{5C97F272-69BF-46EC-B749-B9D46C97A522}"/>
              </a:ext>
            </a:extLst>
          </p:cNvPr>
          <p:cNvCxnSpPr>
            <a:cxnSpLocks/>
          </p:cNvCxnSpPr>
          <p:nvPr/>
        </p:nvCxnSpPr>
        <p:spPr>
          <a:xfrm flipH="1">
            <a:off x="3568824" y="3712742"/>
            <a:ext cx="4190259" cy="3194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 name="Straight Arrow Connector 14">
            <a:extLst>
              <a:ext uri="{FF2B5EF4-FFF2-40B4-BE49-F238E27FC236}">
                <a16:creationId xmlns:a16="http://schemas.microsoft.com/office/drawing/2014/main" id="{685B66BD-A5D3-4E16-B51A-F9EF98E03636}"/>
              </a:ext>
            </a:extLst>
          </p:cNvPr>
          <p:cNvCxnSpPr>
            <a:cxnSpLocks/>
          </p:cNvCxnSpPr>
          <p:nvPr/>
        </p:nvCxnSpPr>
        <p:spPr>
          <a:xfrm flipH="1">
            <a:off x="2947386" y="3920491"/>
            <a:ext cx="490047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0" name="TextBox 19">
            <a:extLst>
              <a:ext uri="{FF2B5EF4-FFF2-40B4-BE49-F238E27FC236}">
                <a16:creationId xmlns:a16="http://schemas.microsoft.com/office/drawing/2014/main" id="{F61B5097-6FFA-4887-8AB4-66E01F26EB99}"/>
              </a:ext>
            </a:extLst>
          </p:cNvPr>
          <p:cNvSpPr txBox="1"/>
          <p:nvPr/>
        </p:nvSpPr>
        <p:spPr>
          <a:xfrm>
            <a:off x="7579000" y="3969121"/>
            <a:ext cx="4664547" cy="276999"/>
          </a:xfrm>
          <a:prstGeom prst="rect">
            <a:avLst/>
          </a:prstGeom>
          <a:noFill/>
        </p:spPr>
        <p:txBody>
          <a:bodyPr wrap="none" rtlCol="0">
            <a:spAutoFit/>
          </a:bodyPr>
          <a:lstStyle/>
          <a:p>
            <a:r>
              <a:rPr lang="en-US" sz="1200" b="1" dirty="0"/>
              <a:t>If checked, will log test in log file location: </a:t>
            </a:r>
            <a:r>
              <a:rPr lang="en-US" sz="1000" b="1" dirty="0"/>
              <a:t>C:\RageATE\Test Log_MMYY.csv</a:t>
            </a:r>
          </a:p>
        </p:txBody>
      </p:sp>
      <p:cxnSp>
        <p:nvCxnSpPr>
          <p:cNvPr id="21" name="Straight Arrow Connector 20">
            <a:extLst>
              <a:ext uri="{FF2B5EF4-FFF2-40B4-BE49-F238E27FC236}">
                <a16:creationId xmlns:a16="http://schemas.microsoft.com/office/drawing/2014/main" id="{3B25DC21-9D0F-46EC-B5EA-83E4C937141C}"/>
              </a:ext>
            </a:extLst>
          </p:cNvPr>
          <p:cNvCxnSpPr>
            <a:cxnSpLocks/>
          </p:cNvCxnSpPr>
          <p:nvPr/>
        </p:nvCxnSpPr>
        <p:spPr>
          <a:xfrm flipH="1" flipV="1">
            <a:off x="2263807" y="4058990"/>
            <a:ext cx="5370723" cy="4807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3" name="TextBox 22">
            <a:extLst>
              <a:ext uri="{FF2B5EF4-FFF2-40B4-BE49-F238E27FC236}">
                <a16:creationId xmlns:a16="http://schemas.microsoft.com/office/drawing/2014/main" id="{4DC672E6-A63F-494C-BD91-1E3E34427A1A}"/>
              </a:ext>
            </a:extLst>
          </p:cNvPr>
          <p:cNvSpPr txBox="1"/>
          <p:nvPr/>
        </p:nvSpPr>
        <p:spPr>
          <a:xfrm>
            <a:off x="7847858" y="3775829"/>
            <a:ext cx="3077381" cy="276999"/>
          </a:xfrm>
          <a:prstGeom prst="rect">
            <a:avLst/>
          </a:prstGeom>
          <a:noFill/>
        </p:spPr>
        <p:txBody>
          <a:bodyPr wrap="none" rtlCol="0">
            <a:spAutoFit/>
          </a:bodyPr>
          <a:lstStyle/>
          <a:p>
            <a:r>
              <a:rPr lang="en-US" sz="1200" b="1" dirty="0"/>
              <a:t>If checked, will copy to server; location varies</a:t>
            </a:r>
          </a:p>
        </p:txBody>
      </p:sp>
      <p:sp>
        <p:nvSpPr>
          <p:cNvPr id="28" name="TextBox 27">
            <a:extLst>
              <a:ext uri="{FF2B5EF4-FFF2-40B4-BE49-F238E27FC236}">
                <a16:creationId xmlns:a16="http://schemas.microsoft.com/office/drawing/2014/main" id="{2DD2F787-3D34-4BC4-B5EF-9423D3077965}"/>
              </a:ext>
            </a:extLst>
          </p:cNvPr>
          <p:cNvSpPr txBox="1"/>
          <p:nvPr/>
        </p:nvSpPr>
        <p:spPr>
          <a:xfrm>
            <a:off x="8867527" y="5073983"/>
            <a:ext cx="1741182" cy="246221"/>
          </a:xfrm>
          <a:prstGeom prst="rect">
            <a:avLst/>
          </a:prstGeom>
          <a:noFill/>
        </p:spPr>
        <p:txBody>
          <a:bodyPr wrap="none" rtlCol="0">
            <a:spAutoFit/>
          </a:bodyPr>
          <a:lstStyle/>
          <a:p>
            <a:r>
              <a:rPr lang="en-US" sz="1000" b="1" dirty="0"/>
              <a:t>If checked, will send an email</a:t>
            </a:r>
          </a:p>
        </p:txBody>
      </p:sp>
      <p:cxnSp>
        <p:nvCxnSpPr>
          <p:cNvPr id="29" name="Straight Arrow Connector 28">
            <a:extLst>
              <a:ext uri="{FF2B5EF4-FFF2-40B4-BE49-F238E27FC236}">
                <a16:creationId xmlns:a16="http://schemas.microsoft.com/office/drawing/2014/main" id="{E6C83EFC-6614-42B2-A1C6-CA228F776444}"/>
              </a:ext>
            </a:extLst>
          </p:cNvPr>
          <p:cNvCxnSpPr>
            <a:cxnSpLocks/>
            <a:stCxn id="28" idx="1"/>
          </p:cNvCxnSpPr>
          <p:nvPr/>
        </p:nvCxnSpPr>
        <p:spPr>
          <a:xfrm flipH="1" flipV="1">
            <a:off x="3283475" y="5164408"/>
            <a:ext cx="5584052" cy="3268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 name="Straight Arrow Connector 29">
            <a:extLst>
              <a:ext uri="{FF2B5EF4-FFF2-40B4-BE49-F238E27FC236}">
                <a16:creationId xmlns:a16="http://schemas.microsoft.com/office/drawing/2014/main" id="{5521D600-502A-418A-BA1F-319FDE007141}"/>
              </a:ext>
            </a:extLst>
          </p:cNvPr>
          <p:cNvCxnSpPr>
            <a:cxnSpLocks/>
          </p:cNvCxnSpPr>
          <p:nvPr/>
        </p:nvCxnSpPr>
        <p:spPr>
          <a:xfrm flipH="1" flipV="1">
            <a:off x="4753729" y="5314974"/>
            <a:ext cx="4113798" cy="12311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2" name="TextBox 31">
            <a:extLst>
              <a:ext uri="{FF2B5EF4-FFF2-40B4-BE49-F238E27FC236}">
                <a16:creationId xmlns:a16="http://schemas.microsoft.com/office/drawing/2014/main" id="{B6E695C0-5F32-421C-AD60-043F376A3F5D}"/>
              </a:ext>
            </a:extLst>
          </p:cNvPr>
          <p:cNvSpPr txBox="1"/>
          <p:nvPr/>
        </p:nvSpPr>
        <p:spPr>
          <a:xfrm>
            <a:off x="8867527" y="5352488"/>
            <a:ext cx="2388795" cy="246221"/>
          </a:xfrm>
          <a:prstGeom prst="rect">
            <a:avLst/>
          </a:prstGeom>
          <a:noFill/>
        </p:spPr>
        <p:txBody>
          <a:bodyPr wrap="none" rtlCol="0">
            <a:spAutoFit/>
          </a:bodyPr>
          <a:lstStyle/>
          <a:p>
            <a:r>
              <a:rPr lang="en-US" sz="1000" b="1" dirty="0"/>
              <a:t>If checked, will send an email attachment</a:t>
            </a:r>
          </a:p>
        </p:txBody>
      </p:sp>
      <p:cxnSp>
        <p:nvCxnSpPr>
          <p:cNvPr id="34" name="Straight Arrow Connector 33">
            <a:extLst>
              <a:ext uri="{FF2B5EF4-FFF2-40B4-BE49-F238E27FC236}">
                <a16:creationId xmlns:a16="http://schemas.microsoft.com/office/drawing/2014/main" id="{02F82B14-71C8-485A-88DA-38C6E8576B9A}"/>
              </a:ext>
            </a:extLst>
          </p:cNvPr>
          <p:cNvCxnSpPr>
            <a:cxnSpLocks/>
          </p:cNvCxnSpPr>
          <p:nvPr/>
        </p:nvCxnSpPr>
        <p:spPr>
          <a:xfrm flipH="1" flipV="1">
            <a:off x="4753729" y="5624004"/>
            <a:ext cx="4113798" cy="12311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5" name="TextBox 34">
            <a:extLst>
              <a:ext uri="{FF2B5EF4-FFF2-40B4-BE49-F238E27FC236}">
                <a16:creationId xmlns:a16="http://schemas.microsoft.com/office/drawing/2014/main" id="{CED67D19-F898-4A41-80B0-704AC8A97FBF}"/>
              </a:ext>
            </a:extLst>
          </p:cNvPr>
          <p:cNvSpPr txBox="1"/>
          <p:nvPr/>
        </p:nvSpPr>
        <p:spPr>
          <a:xfrm>
            <a:off x="8867527" y="5636694"/>
            <a:ext cx="2133918" cy="246221"/>
          </a:xfrm>
          <a:prstGeom prst="rect">
            <a:avLst/>
          </a:prstGeom>
          <a:noFill/>
        </p:spPr>
        <p:txBody>
          <a:bodyPr wrap="none" rtlCol="0">
            <a:spAutoFit/>
          </a:bodyPr>
          <a:lstStyle/>
          <a:p>
            <a:r>
              <a:rPr lang="en-US" sz="1000" b="1" dirty="0"/>
              <a:t>Enter email addresses separated by ;</a:t>
            </a:r>
          </a:p>
        </p:txBody>
      </p:sp>
    </p:spTree>
    <p:extLst>
      <p:ext uri="{BB962C8B-B14F-4D97-AF65-F5344CB8AC3E}">
        <p14:creationId xmlns:p14="http://schemas.microsoft.com/office/powerpoint/2010/main" val="392442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Table&#10;&#10;Description automatically generated">
            <a:extLst>
              <a:ext uri="{FF2B5EF4-FFF2-40B4-BE49-F238E27FC236}">
                <a16:creationId xmlns:a16="http://schemas.microsoft.com/office/drawing/2014/main" id="{77B7FD25-B631-435E-9D1E-B000D99B291A}"/>
              </a:ext>
            </a:extLst>
          </p:cNvPr>
          <p:cNvPicPr>
            <a:picLocks noChangeAspect="1"/>
          </p:cNvPicPr>
          <p:nvPr/>
        </p:nvPicPr>
        <p:blipFill>
          <a:blip r:embed="rId2"/>
          <a:stretch>
            <a:fillRect/>
          </a:stretch>
        </p:blipFill>
        <p:spPr>
          <a:xfrm>
            <a:off x="545786" y="497151"/>
            <a:ext cx="6903224" cy="5646198"/>
          </a:xfrm>
          <a:prstGeom prst="rect">
            <a:avLst/>
          </a:prstGeom>
        </p:spPr>
      </p:pic>
      <p:sp>
        <p:nvSpPr>
          <p:cNvPr id="2" name="TextBox 1">
            <a:extLst>
              <a:ext uri="{FF2B5EF4-FFF2-40B4-BE49-F238E27FC236}">
                <a16:creationId xmlns:a16="http://schemas.microsoft.com/office/drawing/2014/main" id="{949D491B-CEB3-422F-9DB1-01A8B887C134}"/>
              </a:ext>
            </a:extLst>
          </p:cNvPr>
          <p:cNvSpPr txBox="1"/>
          <p:nvPr/>
        </p:nvSpPr>
        <p:spPr>
          <a:xfrm>
            <a:off x="1686757" y="127818"/>
            <a:ext cx="5461880" cy="369332"/>
          </a:xfrm>
          <a:prstGeom prst="rect">
            <a:avLst/>
          </a:prstGeom>
          <a:noFill/>
        </p:spPr>
        <p:txBody>
          <a:bodyPr wrap="none" rtlCol="0">
            <a:spAutoFit/>
          </a:bodyPr>
          <a:lstStyle/>
          <a:p>
            <a:r>
              <a:rPr lang="en-US" dirty="0"/>
              <a:t>Editor page Tab of sequencer using Tetra DVT as example</a:t>
            </a:r>
          </a:p>
        </p:txBody>
      </p:sp>
      <p:cxnSp>
        <p:nvCxnSpPr>
          <p:cNvPr id="6" name="Straight Arrow Connector 5">
            <a:extLst>
              <a:ext uri="{FF2B5EF4-FFF2-40B4-BE49-F238E27FC236}">
                <a16:creationId xmlns:a16="http://schemas.microsoft.com/office/drawing/2014/main" id="{938C1AA2-A759-42D7-A217-63AE8D8C96EF}"/>
              </a:ext>
            </a:extLst>
          </p:cNvPr>
          <p:cNvCxnSpPr>
            <a:cxnSpLocks/>
          </p:cNvCxnSpPr>
          <p:nvPr/>
        </p:nvCxnSpPr>
        <p:spPr>
          <a:xfrm flipH="1">
            <a:off x="4838330" y="779302"/>
            <a:ext cx="3009529" cy="72156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 name="Straight Arrow Connector 8">
            <a:extLst>
              <a:ext uri="{FF2B5EF4-FFF2-40B4-BE49-F238E27FC236}">
                <a16:creationId xmlns:a16="http://schemas.microsoft.com/office/drawing/2014/main" id="{9307D027-B3EB-4242-A7F8-EA9A96DB6EAA}"/>
              </a:ext>
            </a:extLst>
          </p:cNvPr>
          <p:cNvCxnSpPr>
            <a:cxnSpLocks/>
          </p:cNvCxnSpPr>
          <p:nvPr/>
        </p:nvCxnSpPr>
        <p:spPr>
          <a:xfrm flipH="1">
            <a:off x="6809173" y="1897199"/>
            <a:ext cx="1136342" cy="23969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0" name="TextBox 9">
            <a:extLst>
              <a:ext uri="{FF2B5EF4-FFF2-40B4-BE49-F238E27FC236}">
                <a16:creationId xmlns:a16="http://schemas.microsoft.com/office/drawing/2014/main" id="{CCA43C79-7192-4BFF-B057-5F6687892426}"/>
              </a:ext>
            </a:extLst>
          </p:cNvPr>
          <p:cNvSpPr txBox="1"/>
          <p:nvPr/>
        </p:nvSpPr>
        <p:spPr>
          <a:xfrm>
            <a:off x="7790335" y="616488"/>
            <a:ext cx="1556516" cy="276999"/>
          </a:xfrm>
          <a:prstGeom prst="rect">
            <a:avLst/>
          </a:prstGeom>
          <a:noFill/>
        </p:spPr>
        <p:txBody>
          <a:bodyPr wrap="none" rtlCol="0">
            <a:spAutoFit/>
          </a:bodyPr>
          <a:lstStyle/>
          <a:p>
            <a:r>
              <a:rPr lang="en-US" sz="1200" b="1" dirty="0"/>
              <a:t>.vi to run in sequence</a:t>
            </a:r>
          </a:p>
        </p:txBody>
      </p:sp>
      <p:sp>
        <p:nvSpPr>
          <p:cNvPr id="11" name="TextBox 10">
            <a:extLst>
              <a:ext uri="{FF2B5EF4-FFF2-40B4-BE49-F238E27FC236}">
                <a16:creationId xmlns:a16="http://schemas.microsoft.com/office/drawing/2014/main" id="{D9862289-CE84-4BC8-80C7-0010065A1F88}"/>
              </a:ext>
            </a:extLst>
          </p:cNvPr>
          <p:cNvSpPr txBox="1"/>
          <p:nvPr/>
        </p:nvSpPr>
        <p:spPr>
          <a:xfrm>
            <a:off x="8034291" y="1712533"/>
            <a:ext cx="1074653" cy="276999"/>
          </a:xfrm>
          <a:prstGeom prst="rect">
            <a:avLst/>
          </a:prstGeom>
          <a:noFill/>
        </p:spPr>
        <p:txBody>
          <a:bodyPr wrap="none" rtlCol="0">
            <a:spAutoFit/>
          </a:bodyPr>
          <a:lstStyle/>
          <a:p>
            <a:r>
              <a:rPr lang="en-US" sz="1200" b="1" dirty="0"/>
              <a:t>.vi </a:t>
            </a:r>
            <a:r>
              <a:rPr lang="en-US" sz="1200" b="1" dirty="0" err="1"/>
              <a:t>behaviours</a:t>
            </a:r>
            <a:endParaRPr lang="en-US" sz="1200" b="1" dirty="0"/>
          </a:p>
        </p:txBody>
      </p:sp>
      <p:sp>
        <p:nvSpPr>
          <p:cNvPr id="25" name="TextBox 24">
            <a:extLst>
              <a:ext uri="{FF2B5EF4-FFF2-40B4-BE49-F238E27FC236}">
                <a16:creationId xmlns:a16="http://schemas.microsoft.com/office/drawing/2014/main" id="{3B1487CE-6119-464F-A3C0-3F473F3E3D5C}"/>
              </a:ext>
            </a:extLst>
          </p:cNvPr>
          <p:cNvSpPr txBox="1"/>
          <p:nvPr/>
        </p:nvSpPr>
        <p:spPr>
          <a:xfrm>
            <a:off x="8034291" y="2300117"/>
            <a:ext cx="2961516" cy="1015663"/>
          </a:xfrm>
          <a:prstGeom prst="rect">
            <a:avLst/>
          </a:prstGeom>
          <a:noFill/>
        </p:spPr>
        <p:txBody>
          <a:bodyPr wrap="none" rtlCol="0">
            <a:spAutoFit/>
          </a:bodyPr>
          <a:lstStyle/>
          <a:p>
            <a:r>
              <a:rPr lang="en-US" sz="1200" b="1" dirty="0"/>
              <a:t>Create Station References.vi *required</a:t>
            </a:r>
          </a:p>
          <a:p>
            <a:pPr marL="171450" indent="-171450">
              <a:buFontTx/>
              <a:buChar char="-"/>
            </a:pPr>
            <a:r>
              <a:rPr lang="en-US" sz="1200" b="1" dirty="0"/>
              <a:t>Scans Instrument list file (from front tab)</a:t>
            </a:r>
          </a:p>
          <a:p>
            <a:pPr marL="171450" indent="-171450">
              <a:buFontTx/>
              <a:buChar char="-"/>
            </a:pPr>
            <a:r>
              <a:rPr lang="en-US" sz="1200" b="1" dirty="0"/>
              <a:t>Resets to default Instrument conditions</a:t>
            </a:r>
          </a:p>
          <a:p>
            <a:pPr marL="171450" indent="-171450">
              <a:buFontTx/>
              <a:buChar char="-"/>
            </a:pPr>
            <a:r>
              <a:rPr lang="en-US" sz="1200" b="1" dirty="0"/>
              <a:t>Writes Instrument </a:t>
            </a:r>
            <a:r>
              <a:rPr lang="en-US" sz="1200" b="1" dirty="0" err="1"/>
              <a:t>Globals</a:t>
            </a:r>
            <a:endParaRPr lang="en-US" sz="1200" b="1" dirty="0"/>
          </a:p>
          <a:p>
            <a:pPr marL="171450" indent="-171450">
              <a:buFontTx/>
              <a:buChar char="-"/>
            </a:pPr>
            <a:r>
              <a:rPr lang="en-US" sz="1200" b="1" dirty="0"/>
              <a:t>Checks List vs presence </a:t>
            </a:r>
          </a:p>
        </p:txBody>
      </p:sp>
      <p:sp>
        <p:nvSpPr>
          <p:cNvPr id="26" name="TextBox 25">
            <a:extLst>
              <a:ext uri="{FF2B5EF4-FFF2-40B4-BE49-F238E27FC236}">
                <a16:creationId xmlns:a16="http://schemas.microsoft.com/office/drawing/2014/main" id="{5D8D3314-8781-42C0-A0AA-0810111A7191}"/>
              </a:ext>
            </a:extLst>
          </p:cNvPr>
          <p:cNvSpPr txBox="1"/>
          <p:nvPr/>
        </p:nvSpPr>
        <p:spPr>
          <a:xfrm>
            <a:off x="8034291" y="3337415"/>
            <a:ext cx="2870722" cy="1384995"/>
          </a:xfrm>
          <a:prstGeom prst="rect">
            <a:avLst/>
          </a:prstGeom>
          <a:noFill/>
        </p:spPr>
        <p:txBody>
          <a:bodyPr wrap="none" rtlCol="0">
            <a:spAutoFit/>
          </a:bodyPr>
          <a:lstStyle/>
          <a:p>
            <a:r>
              <a:rPr lang="en-US" sz="1200" b="1" dirty="0"/>
              <a:t>GetLoopParameters.vi</a:t>
            </a:r>
          </a:p>
          <a:p>
            <a:pPr marL="171450" indent="-171450">
              <a:buFontTx/>
              <a:buChar char="-"/>
            </a:pPr>
            <a:r>
              <a:rPr lang="en-US" sz="1200" b="1" dirty="0"/>
              <a:t>Reads Contents of file: …</a:t>
            </a:r>
            <a:r>
              <a:rPr lang="en-US" sz="1200" b="1" dirty="0" err="1"/>
              <a:t>Parameters.tst</a:t>
            </a:r>
            <a:endParaRPr lang="en-US" sz="1200" b="1" dirty="0"/>
          </a:p>
          <a:p>
            <a:pPr marL="171450" indent="-171450">
              <a:buFontTx/>
              <a:buChar char="-"/>
            </a:pPr>
            <a:r>
              <a:rPr lang="en-US" sz="1200" b="1" dirty="0"/>
              <a:t>Generates Iteration Parameters</a:t>
            </a:r>
          </a:p>
          <a:p>
            <a:pPr marL="628650" lvl="1" indent="-171450">
              <a:buFontTx/>
              <a:buChar char="-"/>
            </a:pPr>
            <a:r>
              <a:rPr lang="en-US" sz="1200" b="1" dirty="0"/>
              <a:t>Constants (Always the same)</a:t>
            </a:r>
          </a:p>
          <a:p>
            <a:pPr marL="628650" lvl="1" indent="-171450">
              <a:buFontTx/>
              <a:buChar char="-"/>
            </a:pPr>
            <a:r>
              <a:rPr lang="en-US" sz="1200" b="1" dirty="0"/>
              <a:t>Loop Values (varies by iteration)</a:t>
            </a:r>
          </a:p>
          <a:p>
            <a:pPr marL="1085850" lvl="2" indent="-171450">
              <a:buFontTx/>
              <a:buChar char="-"/>
            </a:pPr>
            <a:r>
              <a:rPr lang="en-US" sz="1200" b="1" dirty="0"/>
              <a:t>Test </a:t>
            </a:r>
            <a:r>
              <a:rPr lang="en-US" sz="1200" b="1" dirty="0" err="1"/>
              <a:t>Parameters.tmp</a:t>
            </a:r>
            <a:endParaRPr lang="en-US" sz="1200" b="1" dirty="0"/>
          </a:p>
          <a:p>
            <a:pPr marL="171450" indent="-171450">
              <a:buFontTx/>
              <a:buChar char="-"/>
            </a:pPr>
            <a:endParaRPr lang="en-US" sz="1200" b="1" dirty="0"/>
          </a:p>
        </p:txBody>
      </p:sp>
      <p:sp>
        <p:nvSpPr>
          <p:cNvPr id="31" name="TextBox 30">
            <a:extLst>
              <a:ext uri="{FF2B5EF4-FFF2-40B4-BE49-F238E27FC236}">
                <a16:creationId xmlns:a16="http://schemas.microsoft.com/office/drawing/2014/main" id="{E6749787-8321-4AB3-A750-E5D03C7ACD15}"/>
              </a:ext>
            </a:extLst>
          </p:cNvPr>
          <p:cNvSpPr txBox="1"/>
          <p:nvPr/>
        </p:nvSpPr>
        <p:spPr>
          <a:xfrm>
            <a:off x="8034291" y="4516109"/>
            <a:ext cx="2663743" cy="830997"/>
          </a:xfrm>
          <a:prstGeom prst="rect">
            <a:avLst/>
          </a:prstGeom>
          <a:noFill/>
        </p:spPr>
        <p:txBody>
          <a:bodyPr wrap="none" rtlCol="0">
            <a:spAutoFit/>
          </a:bodyPr>
          <a:lstStyle/>
          <a:p>
            <a:r>
              <a:rPr lang="en-US" sz="1200" b="1" dirty="0"/>
              <a:t>SystemTestIterator.vi</a:t>
            </a:r>
          </a:p>
          <a:p>
            <a:pPr marL="171450" indent="-171450">
              <a:buFontTx/>
              <a:buChar char="-"/>
            </a:pPr>
            <a:r>
              <a:rPr lang="en-US" sz="1200" b="1" dirty="0"/>
              <a:t>Runs Setup vi: One Time</a:t>
            </a:r>
          </a:p>
          <a:p>
            <a:pPr marL="171450" indent="-171450">
              <a:buFontTx/>
              <a:buChar char="-"/>
            </a:pPr>
            <a:r>
              <a:rPr lang="en-US" sz="1200" b="1" dirty="0"/>
              <a:t>Runs Payload vi : Loop until finished</a:t>
            </a:r>
          </a:p>
          <a:p>
            <a:pPr marL="171450" indent="-171450">
              <a:buFontTx/>
              <a:buChar char="-"/>
            </a:pPr>
            <a:r>
              <a:rPr lang="en-US" sz="1200" b="1" dirty="0"/>
              <a:t>Runs Close vi : One Time</a:t>
            </a:r>
          </a:p>
        </p:txBody>
      </p:sp>
    </p:spTree>
    <p:extLst>
      <p:ext uri="{BB962C8B-B14F-4D97-AF65-F5344CB8AC3E}">
        <p14:creationId xmlns:p14="http://schemas.microsoft.com/office/powerpoint/2010/main" val="4141391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able&#10;&#10;Description automatically generated">
            <a:extLst>
              <a:ext uri="{FF2B5EF4-FFF2-40B4-BE49-F238E27FC236}">
                <a16:creationId xmlns:a16="http://schemas.microsoft.com/office/drawing/2014/main" id="{32896126-56C0-45A3-A1AA-B7D85EAF3BC4}"/>
              </a:ext>
            </a:extLst>
          </p:cNvPr>
          <p:cNvPicPr>
            <a:picLocks noChangeAspect="1"/>
          </p:cNvPicPr>
          <p:nvPr/>
        </p:nvPicPr>
        <p:blipFill>
          <a:blip r:embed="rId2"/>
          <a:stretch>
            <a:fillRect/>
          </a:stretch>
        </p:blipFill>
        <p:spPr>
          <a:xfrm>
            <a:off x="874555" y="977268"/>
            <a:ext cx="6617979" cy="5256157"/>
          </a:xfrm>
          <a:prstGeom prst="rect">
            <a:avLst/>
          </a:prstGeom>
        </p:spPr>
      </p:pic>
      <p:sp>
        <p:nvSpPr>
          <p:cNvPr id="2" name="TextBox 1">
            <a:extLst>
              <a:ext uri="{FF2B5EF4-FFF2-40B4-BE49-F238E27FC236}">
                <a16:creationId xmlns:a16="http://schemas.microsoft.com/office/drawing/2014/main" id="{949D491B-CEB3-422F-9DB1-01A8B887C134}"/>
              </a:ext>
            </a:extLst>
          </p:cNvPr>
          <p:cNvSpPr txBox="1"/>
          <p:nvPr/>
        </p:nvSpPr>
        <p:spPr>
          <a:xfrm>
            <a:off x="1686757" y="127818"/>
            <a:ext cx="1975734" cy="369332"/>
          </a:xfrm>
          <a:prstGeom prst="rect">
            <a:avLst/>
          </a:prstGeom>
          <a:noFill/>
        </p:spPr>
        <p:txBody>
          <a:bodyPr wrap="none" rtlCol="0">
            <a:spAutoFit/>
          </a:bodyPr>
          <a:lstStyle/>
          <a:p>
            <a:r>
              <a:rPr lang="en-US" dirty="0"/>
              <a:t>Test parameter File</a:t>
            </a:r>
          </a:p>
        </p:txBody>
      </p:sp>
      <p:cxnSp>
        <p:nvCxnSpPr>
          <p:cNvPr id="6" name="Straight Arrow Connector 5">
            <a:extLst>
              <a:ext uri="{FF2B5EF4-FFF2-40B4-BE49-F238E27FC236}">
                <a16:creationId xmlns:a16="http://schemas.microsoft.com/office/drawing/2014/main" id="{938C1AA2-A759-42D7-A217-63AE8D8C96EF}"/>
              </a:ext>
            </a:extLst>
          </p:cNvPr>
          <p:cNvCxnSpPr>
            <a:cxnSpLocks/>
          </p:cNvCxnSpPr>
          <p:nvPr/>
        </p:nvCxnSpPr>
        <p:spPr>
          <a:xfrm flipH="1">
            <a:off x="2308646" y="800236"/>
            <a:ext cx="3009529" cy="72156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 name="Straight Arrow Connector 8">
            <a:extLst>
              <a:ext uri="{FF2B5EF4-FFF2-40B4-BE49-F238E27FC236}">
                <a16:creationId xmlns:a16="http://schemas.microsoft.com/office/drawing/2014/main" id="{9307D027-B3EB-4242-A7F8-EA9A96DB6EAA}"/>
              </a:ext>
            </a:extLst>
          </p:cNvPr>
          <p:cNvCxnSpPr>
            <a:cxnSpLocks/>
          </p:cNvCxnSpPr>
          <p:nvPr/>
        </p:nvCxnSpPr>
        <p:spPr>
          <a:xfrm flipH="1">
            <a:off x="6431763" y="1633491"/>
            <a:ext cx="1602528" cy="21754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0" name="TextBox 9">
            <a:extLst>
              <a:ext uri="{FF2B5EF4-FFF2-40B4-BE49-F238E27FC236}">
                <a16:creationId xmlns:a16="http://schemas.microsoft.com/office/drawing/2014/main" id="{CCA43C79-7192-4BFF-B057-5F6687892426}"/>
              </a:ext>
            </a:extLst>
          </p:cNvPr>
          <p:cNvSpPr txBox="1"/>
          <p:nvPr/>
        </p:nvSpPr>
        <p:spPr>
          <a:xfrm>
            <a:off x="5317311" y="634676"/>
            <a:ext cx="4285917" cy="276999"/>
          </a:xfrm>
          <a:prstGeom prst="rect">
            <a:avLst/>
          </a:prstGeom>
          <a:noFill/>
        </p:spPr>
        <p:txBody>
          <a:bodyPr wrap="none" rtlCol="0">
            <a:spAutoFit/>
          </a:bodyPr>
          <a:lstStyle/>
          <a:p>
            <a:r>
              <a:rPr lang="en-US" sz="1200" b="1" dirty="0"/>
              <a:t>Serial Number. Overridden by Sequencer.vi “User Prompt for SN”</a:t>
            </a:r>
          </a:p>
        </p:txBody>
      </p:sp>
      <p:sp>
        <p:nvSpPr>
          <p:cNvPr id="11" name="TextBox 10">
            <a:extLst>
              <a:ext uri="{FF2B5EF4-FFF2-40B4-BE49-F238E27FC236}">
                <a16:creationId xmlns:a16="http://schemas.microsoft.com/office/drawing/2014/main" id="{D9862289-CE84-4BC8-80C7-0010065A1F88}"/>
              </a:ext>
            </a:extLst>
          </p:cNvPr>
          <p:cNvSpPr txBox="1"/>
          <p:nvPr/>
        </p:nvSpPr>
        <p:spPr>
          <a:xfrm>
            <a:off x="8023081" y="1447182"/>
            <a:ext cx="1387046" cy="276999"/>
          </a:xfrm>
          <a:prstGeom prst="rect">
            <a:avLst/>
          </a:prstGeom>
          <a:noFill/>
        </p:spPr>
        <p:txBody>
          <a:bodyPr wrap="none" rtlCol="0">
            <a:spAutoFit/>
          </a:bodyPr>
          <a:lstStyle/>
          <a:p>
            <a:r>
              <a:rPr lang="en-US" sz="1200" b="1" dirty="0"/>
              <a:t>.vi </a:t>
            </a:r>
            <a:r>
              <a:rPr lang="en-US" sz="1200" b="1" dirty="0" err="1"/>
              <a:t>behaviours</a:t>
            </a:r>
            <a:r>
              <a:rPr lang="en-US" sz="1200" b="1" dirty="0"/>
              <a:t> keys</a:t>
            </a:r>
          </a:p>
        </p:txBody>
      </p:sp>
      <p:sp>
        <p:nvSpPr>
          <p:cNvPr id="15" name="TextBox 14">
            <a:extLst>
              <a:ext uri="{FF2B5EF4-FFF2-40B4-BE49-F238E27FC236}">
                <a16:creationId xmlns:a16="http://schemas.microsoft.com/office/drawing/2014/main" id="{AE36F94E-055F-4478-BFD7-8D3F0798F539}"/>
              </a:ext>
            </a:extLst>
          </p:cNvPr>
          <p:cNvSpPr txBox="1"/>
          <p:nvPr/>
        </p:nvSpPr>
        <p:spPr>
          <a:xfrm>
            <a:off x="2833514" y="1536863"/>
            <a:ext cx="1657954" cy="276999"/>
          </a:xfrm>
          <a:prstGeom prst="rect">
            <a:avLst/>
          </a:prstGeom>
          <a:noFill/>
        </p:spPr>
        <p:txBody>
          <a:bodyPr wrap="none" rtlCol="0">
            <a:spAutoFit/>
          </a:bodyPr>
          <a:lstStyle/>
          <a:p>
            <a:r>
              <a:rPr lang="en-US" sz="1200" b="1" dirty="0"/>
              <a:t>VI Paths specific to test</a:t>
            </a:r>
          </a:p>
        </p:txBody>
      </p:sp>
      <p:sp>
        <p:nvSpPr>
          <p:cNvPr id="16" name="TextBox 15">
            <a:extLst>
              <a:ext uri="{FF2B5EF4-FFF2-40B4-BE49-F238E27FC236}">
                <a16:creationId xmlns:a16="http://schemas.microsoft.com/office/drawing/2014/main" id="{EB77677F-2B20-45F8-91F3-6B8863A9E0F4}"/>
              </a:ext>
            </a:extLst>
          </p:cNvPr>
          <p:cNvSpPr txBox="1"/>
          <p:nvPr/>
        </p:nvSpPr>
        <p:spPr>
          <a:xfrm>
            <a:off x="7913824" y="2259688"/>
            <a:ext cx="1769972" cy="276999"/>
          </a:xfrm>
          <a:prstGeom prst="rect">
            <a:avLst/>
          </a:prstGeom>
          <a:noFill/>
        </p:spPr>
        <p:txBody>
          <a:bodyPr wrap="none" rtlCol="0">
            <a:spAutoFit/>
          </a:bodyPr>
          <a:lstStyle/>
          <a:p>
            <a:r>
              <a:rPr lang="en-US" sz="1200" b="1" dirty="0"/>
              <a:t>Constants specific to test</a:t>
            </a:r>
          </a:p>
        </p:txBody>
      </p:sp>
      <p:sp>
        <p:nvSpPr>
          <p:cNvPr id="17" name="TextBox 16">
            <a:extLst>
              <a:ext uri="{FF2B5EF4-FFF2-40B4-BE49-F238E27FC236}">
                <a16:creationId xmlns:a16="http://schemas.microsoft.com/office/drawing/2014/main" id="{C6CB51C4-52F0-41BA-8CD1-60ED198AF75F}"/>
              </a:ext>
            </a:extLst>
          </p:cNvPr>
          <p:cNvSpPr txBox="1"/>
          <p:nvPr/>
        </p:nvSpPr>
        <p:spPr>
          <a:xfrm>
            <a:off x="2833514" y="3462112"/>
            <a:ext cx="1515736" cy="276999"/>
          </a:xfrm>
          <a:prstGeom prst="rect">
            <a:avLst/>
          </a:prstGeom>
          <a:noFill/>
        </p:spPr>
        <p:txBody>
          <a:bodyPr wrap="none" rtlCol="0">
            <a:spAutoFit/>
          </a:bodyPr>
          <a:lstStyle/>
          <a:p>
            <a:r>
              <a:rPr lang="en-US" sz="1200" b="1" dirty="0"/>
              <a:t>Loops specific to test</a:t>
            </a:r>
          </a:p>
        </p:txBody>
      </p:sp>
      <p:cxnSp>
        <p:nvCxnSpPr>
          <p:cNvPr id="18" name="Straight Arrow Connector 17">
            <a:extLst>
              <a:ext uri="{FF2B5EF4-FFF2-40B4-BE49-F238E27FC236}">
                <a16:creationId xmlns:a16="http://schemas.microsoft.com/office/drawing/2014/main" id="{BA316901-A494-4629-988E-35E7B103BB00}"/>
              </a:ext>
            </a:extLst>
          </p:cNvPr>
          <p:cNvCxnSpPr>
            <a:cxnSpLocks/>
            <a:stCxn id="19" idx="1"/>
          </p:cNvCxnSpPr>
          <p:nvPr/>
        </p:nvCxnSpPr>
        <p:spPr>
          <a:xfrm flipH="1">
            <a:off x="2674625" y="5086010"/>
            <a:ext cx="5213374" cy="6826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9" name="TextBox 18">
            <a:extLst>
              <a:ext uri="{FF2B5EF4-FFF2-40B4-BE49-F238E27FC236}">
                <a16:creationId xmlns:a16="http://schemas.microsoft.com/office/drawing/2014/main" id="{345B4D74-0D27-41A3-A69D-B2297442CA2E}"/>
              </a:ext>
            </a:extLst>
          </p:cNvPr>
          <p:cNvSpPr txBox="1"/>
          <p:nvPr/>
        </p:nvSpPr>
        <p:spPr>
          <a:xfrm>
            <a:off x="7887999" y="4947510"/>
            <a:ext cx="2237472" cy="276999"/>
          </a:xfrm>
          <a:prstGeom prst="rect">
            <a:avLst/>
          </a:prstGeom>
          <a:noFill/>
        </p:spPr>
        <p:txBody>
          <a:bodyPr wrap="none" rtlCol="0">
            <a:spAutoFit/>
          </a:bodyPr>
          <a:lstStyle/>
          <a:p>
            <a:r>
              <a:rPr lang="en-US" sz="1200" b="1" dirty="0"/>
              <a:t>Column headers for output data</a:t>
            </a:r>
          </a:p>
        </p:txBody>
      </p:sp>
      <p:cxnSp>
        <p:nvCxnSpPr>
          <p:cNvPr id="20" name="Straight Arrow Connector 19">
            <a:extLst>
              <a:ext uri="{FF2B5EF4-FFF2-40B4-BE49-F238E27FC236}">
                <a16:creationId xmlns:a16="http://schemas.microsoft.com/office/drawing/2014/main" id="{1E2F2891-324C-4146-ABD3-DEF0C7D4B0E0}"/>
              </a:ext>
            </a:extLst>
          </p:cNvPr>
          <p:cNvCxnSpPr>
            <a:cxnSpLocks/>
          </p:cNvCxnSpPr>
          <p:nvPr/>
        </p:nvCxnSpPr>
        <p:spPr>
          <a:xfrm flipH="1">
            <a:off x="3591382" y="2440265"/>
            <a:ext cx="4389424" cy="23492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2" name="Straight Arrow Connector 21">
            <a:extLst>
              <a:ext uri="{FF2B5EF4-FFF2-40B4-BE49-F238E27FC236}">
                <a16:creationId xmlns:a16="http://schemas.microsoft.com/office/drawing/2014/main" id="{78B9B6BF-3E53-4051-A1DA-62904885966A}"/>
              </a:ext>
            </a:extLst>
          </p:cNvPr>
          <p:cNvCxnSpPr>
            <a:cxnSpLocks/>
          </p:cNvCxnSpPr>
          <p:nvPr/>
        </p:nvCxnSpPr>
        <p:spPr>
          <a:xfrm flipH="1">
            <a:off x="2790118" y="1975450"/>
            <a:ext cx="5451096" cy="16183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7" name="TextBox 26">
            <a:extLst>
              <a:ext uri="{FF2B5EF4-FFF2-40B4-BE49-F238E27FC236}">
                <a16:creationId xmlns:a16="http://schemas.microsoft.com/office/drawing/2014/main" id="{B0A0DE36-364C-4951-AE73-DEE60E7F1FF8}"/>
              </a:ext>
            </a:extLst>
          </p:cNvPr>
          <p:cNvSpPr txBox="1"/>
          <p:nvPr/>
        </p:nvSpPr>
        <p:spPr>
          <a:xfrm>
            <a:off x="8216182" y="1791158"/>
            <a:ext cx="2924583" cy="461665"/>
          </a:xfrm>
          <a:prstGeom prst="rect">
            <a:avLst/>
          </a:prstGeom>
          <a:noFill/>
        </p:spPr>
        <p:txBody>
          <a:bodyPr wrap="none" rtlCol="0">
            <a:spAutoFit/>
          </a:bodyPr>
          <a:lstStyle/>
          <a:p>
            <a:r>
              <a:rPr lang="en-US" sz="1200" b="1" dirty="0"/>
              <a:t>Test Vi’s </a:t>
            </a:r>
          </a:p>
          <a:p>
            <a:r>
              <a:rPr lang="en-US" sz="1200" b="1" dirty="0"/>
              <a:t>Always in this order : Setup, Payload, Close</a:t>
            </a:r>
          </a:p>
        </p:txBody>
      </p:sp>
    </p:spTree>
    <p:extLst>
      <p:ext uri="{BB962C8B-B14F-4D97-AF65-F5344CB8AC3E}">
        <p14:creationId xmlns:p14="http://schemas.microsoft.com/office/powerpoint/2010/main" val="3360800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Graphical user interface, application&#10;&#10;Description automatically generated">
            <a:extLst>
              <a:ext uri="{FF2B5EF4-FFF2-40B4-BE49-F238E27FC236}">
                <a16:creationId xmlns:a16="http://schemas.microsoft.com/office/drawing/2014/main" id="{E03BC991-53D9-4A88-97E4-5DDACDF0EA76}"/>
              </a:ext>
            </a:extLst>
          </p:cNvPr>
          <p:cNvPicPr>
            <a:picLocks noChangeAspect="1"/>
          </p:cNvPicPr>
          <p:nvPr/>
        </p:nvPicPr>
        <p:blipFill>
          <a:blip r:embed="rId2"/>
          <a:stretch>
            <a:fillRect/>
          </a:stretch>
        </p:blipFill>
        <p:spPr>
          <a:xfrm>
            <a:off x="625151" y="1078459"/>
            <a:ext cx="10792408" cy="4540708"/>
          </a:xfrm>
          <a:prstGeom prst="rect">
            <a:avLst/>
          </a:prstGeom>
        </p:spPr>
      </p:pic>
      <p:sp>
        <p:nvSpPr>
          <p:cNvPr id="6" name="TextBox 5">
            <a:extLst>
              <a:ext uri="{FF2B5EF4-FFF2-40B4-BE49-F238E27FC236}">
                <a16:creationId xmlns:a16="http://schemas.microsoft.com/office/drawing/2014/main" id="{69AA73AC-32AA-4856-B4FB-C0062C9E71DE}"/>
              </a:ext>
            </a:extLst>
          </p:cNvPr>
          <p:cNvSpPr txBox="1"/>
          <p:nvPr/>
        </p:nvSpPr>
        <p:spPr>
          <a:xfrm>
            <a:off x="258902" y="96568"/>
            <a:ext cx="2804742" cy="369332"/>
          </a:xfrm>
          <a:prstGeom prst="rect">
            <a:avLst/>
          </a:prstGeom>
          <a:noFill/>
        </p:spPr>
        <p:txBody>
          <a:bodyPr wrap="none" rtlCol="0">
            <a:spAutoFit/>
          </a:bodyPr>
          <a:lstStyle/>
          <a:p>
            <a:r>
              <a:rPr lang="en-US" dirty="0"/>
              <a:t>Create Station References.vi</a:t>
            </a:r>
          </a:p>
        </p:txBody>
      </p:sp>
      <p:sp>
        <p:nvSpPr>
          <p:cNvPr id="7" name="TextBox 6">
            <a:extLst>
              <a:ext uri="{FF2B5EF4-FFF2-40B4-BE49-F238E27FC236}">
                <a16:creationId xmlns:a16="http://schemas.microsoft.com/office/drawing/2014/main" id="{56B26C71-B5BC-4ED7-B1B6-307BF312960A}"/>
              </a:ext>
            </a:extLst>
          </p:cNvPr>
          <p:cNvSpPr txBox="1"/>
          <p:nvPr/>
        </p:nvSpPr>
        <p:spPr>
          <a:xfrm>
            <a:off x="5184559" y="465900"/>
            <a:ext cx="2568460" cy="369332"/>
          </a:xfrm>
          <a:prstGeom prst="rect">
            <a:avLst/>
          </a:prstGeom>
          <a:noFill/>
        </p:spPr>
        <p:txBody>
          <a:bodyPr wrap="none" rtlCol="0">
            <a:spAutoFit/>
          </a:bodyPr>
          <a:lstStyle/>
          <a:p>
            <a:r>
              <a:rPr lang="en-US" dirty="0"/>
              <a:t>Inst file (from Sequencer)</a:t>
            </a:r>
          </a:p>
        </p:txBody>
      </p:sp>
      <p:cxnSp>
        <p:nvCxnSpPr>
          <p:cNvPr id="9" name="Straight Arrow Connector 8">
            <a:extLst>
              <a:ext uri="{FF2B5EF4-FFF2-40B4-BE49-F238E27FC236}">
                <a16:creationId xmlns:a16="http://schemas.microsoft.com/office/drawing/2014/main" id="{539D02A0-B7EE-4ECD-8B2D-802EB435EA9C}"/>
              </a:ext>
            </a:extLst>
          </p:cNvPr>
          <p:cNvCxnSpPr>
            <a:cxnSpLocks/>
          </p:cNvCxnSpPr>
          <p:nvPr/>
        </p:nvCxnSpPr>
        <p:spPr>
          <a:xfrm flipH="1">
            <a:off x="4829452" y="772357"/>
            <a:ext cx="355107" cy="46647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 name="TextBox 11">
            <a:extLst>
              <a:ext uri="{FF2B5EF4-FFF2-40B4-BE49-F238E27FC236}">
                <a16:creationId xmlns:a16="http://schemas.microsoft.com/office/drawing/2014/main" id="{449E65DC-D17D-4F97-B08E-3A57D80585DA}"/>
              </a:ext>
            </a:extLst>
          </p:cNvPr>
          <p:cNvSpPr txBox="1"/>
          <p:nvPr/>
        </p:nvSpPr>
        <p:spPr>
          <a:xfrm>
            <a:off x="8416031" y="479039"/>
            <a:ext cx="1451166" cy="369332"/>
          </a:xfrm>
          <a:prstGeom prst="rect">
            <a:avLst/>
          </a:prstGeom>
          <a:noFill/>
        </p:spPr>
        <p:txBody>
          <a:bodyPr wrap="none" rtlCol="0">
            <a:spAutoFit/>
          </a:bodyPr>
          <a:lstStyle/>
          <a:p>
            <a:r>
              <a:rPr lang="en-US" dirty="0"/>
              <a:t>Use? 1 = True</a:t>
            </a:r>
          </a:p>
        </p:txBody>
      </p:sp>
      <p:sp>
        <p:nvSpPr>
          <p:cNvPr id="13" name="TextBox 12">
            <a:extLst>
              <a:ext uri="{FF2B5EF4-FFF2-40B4-BE49-F238E27FC236}">
                <a16:creationId xmlns:a16="http://schemas.microsoft.com/office/drawing/2014/main" id="{53BCA71F-84D6-4997-A463-3A037FE0E52D}"/>
              </a:ext>
            </a:extLst>
          </p:cNvPr>
          <p:cNvSpPr txBox="1"/>
          <p:nvPr/>
        </p:nvSpPr>
        <p:spPr>
          <a:xfrm>
            <a:off x="1109708" y="587336"/>
            <a:ext cx="1926938" cy="369332"/>
          </a:xfrm>
          <a:prstGeom prst="rect">
            <a:avLst/>
          </a:prstGeom>
          <a:noFill/>
        </p:spPr>
        <p:txBody>
          <a:bodyPr wrap="none" rtlCol="0">
            <a:spAutoFit/>
          </a:bodyPr>
          <a:lstStyle/>
          <a:p>
            <a:r>
              <a:rPr lang="en-US" dirty="0"/>
              <a:t>Present?* 1 = True</a:t>
            </a:r>
          </a:p>
        </p:txBody>
      </p:sp>
      <p:cxnSp>
        <p:nvCxnSpPr>
          <p:cNvPr id="14" name="Straight Arrow Connector 13">
            <a:extLst>
              <a:ext uri="{FF2B5EF4-FFF2-40B4-BE49-F238E27FC236}">
                <a16:creationId xmlns:a16="http://schemas.microsoft.com/office/drawing/2014/main" id="{3B0CFAB8-2F95-46FC-B3B4-D653CFB270E9}"/>
              </a:ext>
            </a:extLst>
          </p:cNvPr>
          <p:cNvCxnSpPr>
            <a:cxnSpLocks/>
          </p:cNvCxnSpPr>
          <p:nvPr/>
        </p:nvCxnSpPr>
        <p:spPr>
          <a:xfrm flipH="1">
            <a:off x="8416031" y="805392"/>
            <a:ext cx="363985" cy="77257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6" name="Straight Arrow Connector 15">
            <a:extLst>
              <a:ext uri="{FF2B5EF4-FFF2-40B4-BE49-F238E27FC236}">
                <a16:creationId xmlns:a16="http://schemas.microsoft.com/office/drawing/2014/main" id="{DBDE59FE-CE6B-4E36-B79D-D606F0CABBA7}"/>
              </a:ext>
            </a:extLst>
          </p:cNvPr>
          <p:cNvCxnSpPr>
            <a:cxnSpLocks/>
          </p:cNvCxnSpPr>
          <p:nvPr/>
        </p:nvCxnSpPr>
        <p:spPr>
          <a:xfrm flipH="1">
            <a:off x="2009916" y="908239"/>
            <a:ext cx="181994" cy="77257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8" name="TextBox 17">
            <a:extLst>
              <a:ext uri="{FF2B5EF4-FFF2-40B4-BE49-F238E27FC236}">
                <a16:creationId xmlns:a16="http://schemas.microsoft.com/office/drawing/2014/main" id="{2847693E-F10C-40D0-8686-51AFECA93118}"/>
              </a:ext>
            </a:extLst>
          </p:cNvPr>
          <p:cNvSpPr txBox="1"/>
          <p:nvPr/>
        </p:nvSpPr>
        <p:spPr>
          <a:xfrm>
            <a:off x="2100913" y="5779541"/>
            <a:ext cx="5453672" cy="646331"/>
          </a:xfrm>
          <a:prstGeom prst="rect">
            <a:avLst/>
          </a:prstGeom>
          <a:noFill/>
        </p:spPr>
        <p:txBody>
          <a:bodyPr wrap="none" rtlCol="0">
            <a:spAutoFit/>
          </a:bodyPr>
          <a:lstStyle/>
          <a:p>
            <a:r>
              <a:rPr lang="en-US" dirty="0"/>
              <a:t>*If Instrument Present = 1 and Instrument not used = 0, </a:t>
            </a:r>
          </a:p>
          <a:p>
            <a:r>
              <a:rPr lang="en-US" dirty="0"/>
              <a:t>Calls to Instrument will be ignored. </a:t>
            </a:r>
          </a:p>
        </p:txBody>
      </p:sp>
      <p:cxnSp>
        <p:nvCxnSpPr>
          <p:cNvPr id="19" name="Straight Arrow Connector 18">
            <a:extLst>
              <a:ext uri="{FF2B5EF4-FFF2-40B4-BE49-F238E27FC236}">
                <a16:creationId xmlns:a16="http://schemas.microsoft.com/office/drawing/2014/main" id="{0EB2BE1C-24DC-4925-A352-0904075C5DAE}"/>
              </a:ext>
            </a:extLst>
          </p:cNvPr>
          <p:cNvCxnSpPr>
            <a:cxnSpLocks/>
          </p:cNvCxnSpPr>
          <p:nvPr/>
        </p:nvCxnSpPr>
        <p:spPr>
          <a:xfrm flipV="1">
            <a:off x="9312676" y="4201578"/>
            <a:ext cx="372529" cy="15779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2" name="TextBox 21">
            <a:extLst>
              <a:ext uri="{FF2B5EF4-FFF2-40B4-BE49-F238E27FC236}">
                <a16:creationId xmlns:a16="http://schemas.microsoft.com/office/drawing/2014/main" id="{A0B93257-BBB9-4709-8A3A-6C1C12B12BBC}"/>
              </a:ext>
            </a:extLst>
          </p:cNvPr>
          <p:cNvSpPr txBox="1"/>
          <p:nvPr/>
        </p:nvSpPr>
        <p:spPr>
          <a:xfrm>
            <a:off x="8018531" y="5740958"/>
            <a:ext cx="3333348" cy="369332"/>
          </a:xfrm>
          <a:prstGeom prst="rect">
            <a:avLst/>
          </a:prstGeom>
          <a:noFill/>
        </p:spPr>
        <p:txBody>
          <a:bodyPr wrap="none" rtlCol="0">
            <a:spAutoFit/>
          </a:bodyPr>
          <a:lstStyle/>
          <a:p>
            <a:r>
              <a:rPr lang="en-US" dirty="0"/>
              <a:t>Inst Info goes to result file header</a:t>
            </a:r>
          </a:p>
        </p:txBody>
      </p:sp>
    </p:spTree>
    <p:extLst>
      <p:ext uri="{BB962C8B-B14F-4D97-AF65-F5344CB8AC3E}">
        <p14:creationId xmlns:p14="http://schemas.microsoft.com/office/powerpoint/2010/main" val="19423933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9AA73AC-32AA-4856-B4FB-C0062C9E71DE}"/>
              </a:ext>
            </a:extLst>
          </p:cNvPr>
          <p:cNvSpPr txBox="1"/>
          <p:nvPr/>
        </p:nvSpPr>
        <p:spPr>
          <a:xfrm>
            <a:off x="1492898" y="709127"/>
            <a:ext cx="4829143" cy="369332"/>
          </a:xfrm>
          <a:prstGeom prst="rect">
            <a:avLst/>
          </a:prstGeom>
          <a:noFill/>
        </p:spPr>
        <p:txBody>
          <a:bodyPr wrap="none" rtlCol="0">
            <a:spAutoFit/>
          </a:bodyPr>
          <a:lstStyle/>
          <a:p>
            <a:r>
              <a:rPr lang="en-US" dirty="0"/>
              <a:t>Instrument File read by Create Station References</a:t>
            </a:r>
          </a:p>
        </p:txBody>
      </p:sp>
      <p:graphicFrame>
        <p:nvGraphicFramePr>
          <p:cNvPr id="2" name="Table 1">
            <a:extLst>
              <a:ext uri="{FF2B5EF4-FFF2-40B4-BE49-F238E27FC236}">
                <a16:creationId xmlns:a16="http://schemas.microsoft.com/office/drawing/2014/main" id="{16B6EBCF-D696-405B-8AC8-BFF7DE305D3F}"/>
              </a:ext>
            </a:extLst>
          </p:cNvPr>
          <p:cNvGraphicFramePr>
            <a:graphicFrameLocks noGrp="1"/>
          </p:cNvGraphicFramePr>
          <p:nvPr>
            <p:extLst>
              <p:ext uri="{D42A27DB-BD31-4B8C-83A1-F6EECF244321}">
                <p14:modId xmlns:p14="http://schemas.microsoft.com/office/powerpoint/2010/main" val="2327377582"/>
              </p:ext>
            </p:extLst>
          </p:nvPr>
        </p:nvGraphicFramePr>
        <p:xfrm>
          <a:off x="2219649" y="1619250"/>
          <a:ext cx="6502400" cy="3619500"/>
        </p:xfrm>
        <a:graphic>
          <a:graphicData uri="http://schemas.openxmlformats.org/drawingml/2006/table">
            <a:tbl>
              <a:tblPr/>
              <a:tblGrid>
                <a:gridCol w="1167260">
                  <a:extLst>
                    <a:ext uri="{9D8B030D-6E8A-4147-A177-3AD203B41FA5}">
                      <a16:colId xmlns:a16="http://schemas.microsoft.com/office/drawing/2014/main" val="2881006972"/>
                    </a:ext>
                  </a:extLst>
                </a:gridCol>
                <a:gridCol w="1167260">
                  <a:extLst>
                    <a:ext uri="{9D8B030D-6E8A-4147-A177-3AD203B41FA5}">
                      <a16:colId xmlns:a16="http://schemas.microsoft.com/office/drawing/2014/main" val="1397955910"/>
                    </a:ext>
                  </a:extLst>
                </a:gridCol>
                <a:gridCol w="2236191">
                  <a:extLst>
                    <a:ext uri="{9D8B030D-6E8A-4147-A177-3AD203B41FA5}">
                      <a16:colId xmlns:a16="http://schemas.microsoft.com/office/drawing/2014/main" val="4221588722"/>
                    </a:ext>
                  </a:extLst>
                </a:gridCol>
                <a:gridCol w="980118">
                  <a:extLst>
                    <a:ext uri="{9D8B030D-6E8A-4147-A177-3AD203B41FA5}">
                      <a16:colId xmlns:a16="http://schemas.microsoft.com/office/drawing/2014/main" val="4120556347"/>
                    </a:ext>
                  </a:extLst>
                </a:gridCol>
                <a:gridCol w="951571">
                  <a:extLst>
                    <a:ext uri="{9D8B030D-6E8A-4147-A177-3AD203B41FA5}">
                      <a16:colId xmlns:a16="http://schemas.microsoft.com/office/drawing/2014/main" val="3865217540"/>
                    </a:ext>
                  </a:extLst>
                </a:gridCol>
              </a:tblGrid>
              <a:tr h="190500">
                <a:tc>
                  <a:txBody>
                    <a:bodyPr/>
                    <a:lstStyle/>
                    <a:p>
                      <a:pPr algn="l" fontAlgn="b"/>
                      <a:r>
                        <a:rPr lang="en-US" sz="1100" b="0" i="0" u="none" strike="noStrike">
                          <a:solidFill>
                            <a:srgbClr val="000000"/>
                          </a:solidFill>
                          <a:effectLst/>
                          <a:latin typeface="Calibri" panose="020F0502020204030204" pitchFamily="34" charset="0"/>
                        </a:rPr>
                        <a:t>INST NAME</a:t>
                      </a: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TYPE</a:t>
                      </a: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ADDRESS</a:t>
                      </a: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Use Instrument</a:t>
                      </a: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Return to Local</a:t>
                      </a:r>
                    </a:p>
                  </a:txBody>
                  <a:tcPr marL="9525" marR="9525" marT="9525" marB="0" anchor="b">
                    <a:lnL>
                      <a:noFill/>
                    </a:lnL>
                    <a:lnR>
                      <a:noFill/>
                    </a:lnR>
                    <a:lnT>
                      <a:noFill/>
                    </a:lnT>
                    <a:lnB>
                      <a:noFill/>
                    </a:lnB>
                  </a:tcPr>
                </a:tc>
                <a:extLst>
                  <a:ext uri="{0D108BD9-81ED-4DB2-BD59-A6C34878D82A}">
                    <a16:rowId xmlns:a16="http://schemas.microsoft.com/office/drawing/2014/main" val="1418511402"/>
                  </a:ext>
                </a:extLst>
              </a:tr>
              <a:tr h="190500">
                <a:tc>
                  <a:txBody>
                    <a:bodyPr/>
                    <a:lstStyle/>
                    <a:p>
                      <a:pPr algn="l" fontAlgn="b"/>
                      <a:r>
                        <a:rPr lang="en-US" sz="1100" b="0" i="0" u="none" strike="noStrike">
                          <a:solidFill>
                            <a:srgbClr val="000000"/>
                          </a:solidFill>
                          <a:effectLst/>
                          <a:latin typeface="Calibri" panose="020F0502020204030204" pitchFamily="34" charset="0"/>
                        </a:rPr>
                        <a:t>OVEN</a:t>
                      </a: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Temp Plate</a:t>
                      </a: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TCPIP0::169.254.70.190::502::SOCKET</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9525" marR="9525" marT="9525" marB="0" anchor="b">
                    <a:lnL>
                      <a:noFill/>
                    </a:lnL>
                    <a:lnR>
                      <a:noFill/>
                    </a:lnR>
                    <a:lnT>
                      <a:noFill/>
                    </a:lnT>
                    <a:lnB>
                      <a:noFill/>
                    </a:lnB>
                  </a:tcPr>
                </a:tc>
                <a:extLst>
                  <a:ext uri="{0D108BD9-81ED-4DB2-BD59-A6C34878D82A}">
                    <a16:rowId xmlns:a16="http://schemas.microsoft.com/office/drawing/2014/main" val="514856992"/>
                  </a:ext>
                </a:extLst>
              </a:tr>
              <a:tr h="190500">
                <a:tc>
                  <a:txBody>
                    <a:bodyPr/>
                    <a:lstStyle/>
                    <a:p>
                      <a:pPr algn="l" fontAlgn="b"/>
                      <a:r>
                        <a:rPr lang="en-US" sz="1100" b="0" i="0" u="none" strike="noStrike">
                          <a:solidFill>
                            <a:srgbClr val="000000"/>
                          </a:solidFill>
                          <a:effectLst/>
                          <a:latin typeface="Calibri" panose="020F0502020204030204" pitchFamily="34" charset="0"/>
                        </a:rPr>
                        <a:t>NFA</a:t>
                      </a: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NFA</a:t>
                      </a: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GPIB0::5::INSTR</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a:t>
                      </a:r>
                    </a:p>
                  </a:txBody>
                  <a:tcPr marL="9525" marR="9525" marT="9525" marB="0" anchor="b">
                    <a:lnL>
                      <a:noFill/>
                    </a:lnL>
                    <a:lnR>
                      <a:noFill/>
                    </a:lnR>
                    <a:lnT>
                      <a:noFill/>
                    </a:lnT>
                    <a:lnB>
                      <a:noFill/>
                    </a:lnB>
                  </a:tcPr>
                </a:tc>
                <a:extLst>
                  <a:ext uri="{0D108BD9-81ED-4DB2-BD59-A6C34878D82A}">
                    <a16:rowId xmlns:a16="http://schemas.microsoft.com/office/drawing/2014/main" val="2372412319"/>
                  </a:ext>
                </a:extLst>
              </a:tr>
              <a:tr h="190500">
                <a:tc>
                  <a:txBody>
                    <a:bodyPr/>
                    <a:lstStyle/>
                    <a:p>
                      <a:pPr algn="l" fontAlgn="b"/>
                      <a:r>
                        <a:rPr lang="en-US" sz="1100" b="0" i="0" u="none" strike="noStrike">
                          <a:solidFill>
                            <a:srgbClr val="000000"/>
                          </a:solidFill>
                          <a:effectLst/>
                          <a:latin typeface="Calibri" panose="020F0502020204030204" pitchFamily="34" charset="0"/>
                        </a:rPr>
                        <a:t>DMM1</a:t>
                      </a: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DMM</a:t>
                      </a: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GPIB0::7::INSTR</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a:t>
                      </a:r>
                    </a:p>
                  </a:txBody>
                  <a:tcPr marL="9525" marR="9525" marT="9525" marB="0" anchor="b">
                    <a:lnL>
                      <a:noFill/>
                    </a:lnL>
                    <a:lnR>
                      <a:noFill/>
                    </a:lnR>
                    <a:lnT>
                      <a:noFill/>
                    </a:lnT>
                    <a:lnB>
                      <a:noFill/>
                    </a:lnB>
                  </a:tcPr>
                </a:tc>
                <a:extLst>
                  <a:ext uri="{0D108BD9-81ED-4DB2-BD59-A6C34878D82A}">
                    <a16:rowId xmlns:a16="http://schemas.microsoft.com/office/drawing/2014/main" val="589888299"/>
                  </a:ext>
                </a:extLst>
              </a:tr>
              <a:tr h="190500">
                <a:tc>
                  <a:txBody>
                    <a:bodyPr/>
                    <a:lstStyle/>
                    <a:p>
                      <a:pPr algn="l" fontAlgn="b"/>
                      <a:r>
                        <a:rPr lang="en-US" sz="1100" b="0" i="0" u="none" strike="noStrike">
                          <a:solidFill>
                            <a:srgbClr val="000000"/>
                          </a:solidFill>
                          <a:effectLst/>
                          <a:latin typeface="Calibri" panose="020F0502020204030204" pitchFamily="34" charset="0"/>
                        </a:rPr>
                        <a:t>DMM2</a:t>
                      </a: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DMM</a:t>
                      </a: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GPIB0::8::INSTR</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a:t>
                      </a:r>
                    </a:p>
                  </a:txBody>
                  <a:tcPr marL="9525" marR="9525" marT="9525" marB="0" anchor="b">
                    <a:lnL>
                      <a:noFill/>
                    </a:lnL>
                    <a:lnR>
                      <a:noFill/>
                    </a:lnR>
                    <a:lnT>
                      <a:noFill/>
                    </a:lnT>
                    <a:lnB>
                      <a:noFill/>
                    </a:lnB>
                  </a:tcPr>
                </a:tc>
                <a:extLst>
                  <a:ext uri="{0D108BD9-81ED-4DB2-BD59-A6C34878D82A}">
                    <a16:rowId xmlns:a16="http://schemas.microsoft.com/office/drawing/2014/main" val="544191732"/>
                  </a:ext>
                </a:extLst>
              </a:tr>
              <a:tr h="190500">
                <a:tc>
                  <a:txBody>
                    <a:bodyPr/>
                    <a:lstStyle/>
                    <a:p>
                      <a:pPr algn="l" fontAlgn="b"/>
                      <a:r>
                        <a:rPr lang="en-US" sz="1100" b="0" i="0" u="none" strike="noStrike">
                          <a:solidFill>
                            <a:srgbClr val="000000"/>
                          </a:solidFill>
                          <a:effectLst/>
                          <a:latin typeface="Calibri" panose="020F0502020204030204" pitchFamily="34" charset="0"/>
                        </a:rPr>
                        <a:t>DMM3</a:t>
                      </a: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DMM</a:t>
                      </a: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GPIB0::9::INSTR</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a:t>
                      </a:r>
                    </a:p>
                  </a:txBody>
                  <a:tcPr marL="9525" marR="9525" marT="9525" marB="0" anchor="b">
                    <a:lnL>
                      <a:noFill/>
                    </a:lnL>
                    <a:lnR>
                      <a:noFill/>
                    </a:lnR>
                    <a:lnT>
                      <a:noFill/>
                    </a:lnT>
                    <a:lnB>
                      <a:noFill/>
                    </a:lnB>
                  </a:tcPr>
                </a:tc>
                <a:extLst>
                  <a:ext uri="{0D108BD9-81ED-4DB2-BD59-A6C34878D82A}">
                    <a16:rowId xmlns:a16="http://schemas.microsoft.com/office/drawing/2014/main" val="4205272488"/>
                  </a:ext>
                </a:extLst>
              </a:tr>
              <a:tr h="190500">
                <a:tc>
                  <a:txBody>
                    <a:bodyPr/>
                    <a:lstStyle/>
                    <a:p>
                      <a:pPr algn="l" fontAlgn="b"/>
                      <a:r>
                        <a:rPr lang="en-US" sz="1100" b="0" i="0" u="none" strike="noStrike">
                          <a:solidFill>
                            <a:srgbClr val="000000"/>
                          </a:solidFill>
                          <a:effectLst/>
                          <a:latin typeface="Calibri" panose="020F0502020204030204" pitchFamily="34" charset="0"/>
                        </a:rPr>
                        <a:t>PS1</a:t>
                      </a: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PowerSupply</a:t>
                      </a: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TCPIP0::169.254.70.130::inst0::INSTR</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9525" marR="9525" marT="9525" marB="0" anchor="b">
                    <a:lnL>
                      <a:noFill/>
                    </a:lnL>
                    <a:lnR>
                      <a:noFill/>
                    </a:lnR>
                    <a:lnT>
                      <a:noFill/>
                    </a:lnT>
                    <a:lnB>
                      <a:noFill/>
                    </a:lnB>
                  </a:tcPr>
                </a:tc>
                <a:extLst>
                  <a:ext uri="{0D108BD9-81ED-4DB2-BD59-A6C34878D82A}">
                    <a16:rowId xmlns:a16="http://schemas.microsoft.com/office/drawing/2014/main" val="3642205623"/>
                  </a:ext>
                </a:extLst>
              </a:tr>
              <a:tr h="190500">
                <a:tc>
                  <a:txBody>
                    <a:bodyPr/>
                    <a:lstStyle/>
                    <a:p>
                      <a:pPr algn="l" fontAlgn="b"/>
                      <a:r>
                        <a:rPr lang="en-US" sz="1100" b="0" i="0" u="none" strike="noStrike">
                          <a:solidFill>
                            <a:srgbClr val="000000"/>
                          </a:solidFill>
                          <a:effectLst/>
                          <a:latin typeface="Calibri" panose="020F0502020204030204" pitchFamily="34" charset="0"/>
                        </a:rPr>
                        <a:t>PS2</a:t>
                      </a:r>
                    </a:p>
                  </a:txBody>
                  <a:tcPr marL="9525" marR="9525" marT="9525" marB="0" anchor="b">
                    <a:lnL>
                      <a:noFill/>
                    </a:lnL>
                    <a:lnR>
                      <a:noFill/>
                    </a:lnR>
                    <a:lnT>
                      <a:noFill/>
                    </a:lnT>
                    <a:lnB>
                      <a:noFill/>
                    </a:lnB>
                  </a:tcPr>
                </a:tc>
                <a:tc>
                  <a:txBody>
                    <a:bodyPr/>
                    <a:lstStyle/>
                    <a:p>
                      <a:pPr algn="l" fontAlgn="b"/>
                      <a:r>
                        <a:rPr lang="en-US" sz="1100" b="0" i="0" u="none" strike="noStrike" dirty="0" err="1">
                          <a:solidFill>
                            <a:srgbClr val="000000"/>
                          </a:solidFill>
                          <a:effectLst/>
                          <a:latin typeface="Calibri" panose="020F0502020204030204" pitchFamily="34" charset="0"/>
                        </a:rPr>
                        <a:t>PowerSupply</a:t>
                      </a:r>
                      <a:endParaRPr lang="en-US" sz="1100" b="0"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GPIB0::11::INSTR</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a:t>
                      </a:r>
                    </a:p>
                  </a:txBody>
                  <a:tcPr marL="9525" marR="9525" marT="9525" marB="0" anchor="b">
                    <a:lnL>
                      <a:noFill/>
                    </a:lnL>
                    <a:lnR>
                      <a:noFill/>
                    </a:lnR>
                    <a:lnT>
                      <a:noFill/>
                    </a:lnT>
                    <a:lnB>
                      <a:noFill/>
                    </a:lnB>
                  </a:tcPr>
                </a:tc>
                <a:extLst>
                  <a:ext uri="{0D108BD9-81ED-4DB2-BD59-A6C34878D82A}">
                    <a16:rowId xmlns:a16="http://schemas.microsoft.com/office/drawing/2014/main" val="2796710555"/>
                  </a:ext>
                </a:extLst>
              </a:tr>
              <a:tr h="190500">
                <a:tc>
                  <a:txBody>
                    <a:bodyPr/>
                    <a:lstStyle/>
                    <a:p>
                      <a:pPr algn="l" fontAlgn="b"/>
                      <a:r>
                        <a:rPr lang="en-US" sz="1100" b="0" i="0" u="none" strike="noStrike">
                          <a:solidFill>
                            <a:srgbClr val="000000"/>
                          </a:solidFill>
                          <a:effectLst/>
                          <a:latin typeface="Calibri" panose="020F0502020204030204" pitchFamily="34" charset="0"/>
                        </a:rPr>
                        <a:t>PS3</a:t>
                      </a: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PowerSupply</a:t>
                      </a: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GPIB0::12::INSTR</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a:t>
                      </a:r>
                    </a:p>
                  </a:txBody>
                  <a:tcPr marL="9525" marR="9525" marT="9525" marB="0" anchor="b">
                    <a:lnL>
                      <a:noFill/>
                    </a:lnL>
                    <a:lnR>
                      <a:noFill/>
                    </a:lnR>
                    <a:lnT>
                      <a:noFill/>
                    </a:lnT>
                    <a:lnB>
                      <a:noFill/>
                    </a:lnB>
                  </a:tcPr>
                </a:tc>
                <a:extLst>
                  <a:ext uri="{0D108BD9-81ED-4DB2-BD59-A6C34878D82A}">
                    <a16:rowId xmlns:a16="http://schemas.microsoft.com/office/drawing/2014/main" val="3937850108"/>
                  </a:ext>
                </a:extLst>
              </a:tr>
              <a:tr h="190500">
                <a:tc>
                  <a:txBody>
                    <a:bodyPr/>
                    <a:lstStyle/>
                    <a:p>
                      <a:pPr algn="l" fontAlgn="b"/>
                      <a:r>
                        <a:rPr lang="en-US" sz="1100" b="0" i="0" u="none" strike="noStrike">
                          <a:solidFill>
                            <a:srgbClr val="000000"/>
                          </a:solidFill>
                          <a:effectLst/>
                          <a:latin typeface="Calibri" panose="020F0502020204030204" pitchFamily="34" charset="0"/>
                        </a:rPr>
                        <a:t>SpectrumAnalyzer</a:t>
                      </a: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SpectrumAnalyzer</a:t>
                      </a: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TCPIP0::169.254.70.120::inst0::INSTR</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9525" marR="9525" marT="9525" marB="0" anchor="b">
                    <a:lnL>
                      <a:noFill/>
                    </a:lnL>
                    <a:lnR>
                      <a:noFill/>
                    </a:lnR>
                    <a:lnT>
                      <a:noFill/>
                    </a:lnT>
                    <a:lnB>
                      <a:noFill/>
                    </a:lnB>
                  </a:tcPr>
                </a:tc>
                <a:extLst>
                  <a:ext uri="{0D108BD9-81ED-4DB2-BD59-A6C34878D82A}">
                    <a16:rowId xmlns:a16="http://schemas.microsoft.com/office/drawing/2014/main" val="2715332230"/>
                  </a:ext>
                </a:extLst>
              </a:tr>
              <a:tr h="190500">
                <a:tc>
                  <a:txBody>
                    <a:bodyPr/>
                    <a:lstStyle/>
                    <a:p>
                      <a:pPr algn="l" fontAlgn="b"/>
                      <a:r>
                        <a:rPr lang="en-US" sz="1100" b="0" i="0" u="none" strike="noStrike">
                          <a:solidFill>
                            <a:srgbClr val="000000"/>
                          </a:solidFill>
                          <a:effectLst/>
                          <a:latin typeface="Calibri" panose="020F0502020204030204" pitchFamily="34" charset="0"/>
                        </a:rPr>
                        <a:t>SigGen1</a:t>
                      </a: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SigGen</a:t>
                      </a: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TCPIP0::169.254.70.100::inst0::INSTR</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9525" marR="9525" marT="9525" marB="0" anchor="b">
                    <a:lnL>
                      <a:noFill/>
                    </a:lnL>
                    <a:lnR>
                      <a:noFill/>
                    </a:lnR>
                    <a:lnT>
                      <a:noFill/>
                    </a:lnT>
                    <a:lnB>
                      <a:noFill/>
                    </a:lnB>
                  </a:tcPr>
                </a:tc>
                <a:extLst>
                  <a:ext uri="{0D108BD9-81ED-4DB2-BD59-A6C34878D82A}">
                    <a16:rowId xmlns:a16="http://schemas.microsoft.com/office/drawing/2014/main" val="2215111767"/>
                  </a:ext>
                </a:extLst>
              </a:tr>
              <a:tr h="190500">
                <a:tc>
                  <a:txBody>
                    <a:bodyPr/>
                    <a:lstStyle/>
                    <a:p>
                      <a:pPr algn="l" fontAlgn="b"/>
                      <a:r>
                        <a:rPr lang="en-US" sz="1100" b="0" i="0" u="none" strike="noStrike">
                          <a:solidFill>
                            <a:srgbClr val="000000"/>
                          </a:solidFill>
                          <a:effectLst/>
                          <a:latin typeface="Calibri" panose="020F0502020204030204" pitchFamily="34" charset="0"/>
                        </a:rPr>
                        <a:t>SigGen2</a:t>
                      </a: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SigGen</a:t>
                      </a: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GPIB0::19::INSTR</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a:t>
                      </a:r>
                    </a:p>
                  </a:txBody>
                  <a:tcPr marL="9525" marR="9525" marT="9525" marB="0" anchor="b">
                    <a:lnL>
                      <a:noFill/>
                    </a:lnL>
                    <a:lnR>
                      <a:noFill/>
                    </a:lnR>
                    <a:lnT>
                      <a:noFill/>
                    </a:lnT>
                    <a:lnB>
                      <a:noFill/>
                    </a:lnB>
                  </a:tcPr>
                </a:tc>
                <a:extLst>
                  <a:ext uri="{0D108BD9-81ED-4DB2-BD59-A6C34878D82A}">
                    <a16:rowId xmlns:a16="http://schemas.microsoft.com/office/drawing/2014/main" val="1966976526"/>
                  </a:ext>
                </a:extLst>
              </a:tr>
              <a:tr h="190500">
                <a:tc>
                  <a:txBody>
                    <a:bodyPr/>
                    <a:lstStyle/>
                    <a:p>
                      <a:pPr algn="l" fontAlgn="b"/>
                      <a:r>
                        <a:rPr lang="en-US" sz="1100" b="0" i="0" u="none" strike="noStrike">
                          <a:solidFill>
                            <a:srgbClr val="000000"/>
                          </a:solidFill>
                          <a:effectLst/>
                          <a:latin typeface="Calibri" panose="020F0502020204030204" pitchFamily="34" charset="0"/>
                        </a:rPr>
                        <a:t>SigGen3</a:t>
                      </a: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SigGen</a:t>
                      </a: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GPIB0::20::INSTR</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a:t>
                      </a:r>
                    </a:p>
                  </a:txBody>
                  <a:tcPr marL="9525" marR="9525" marT="9525" marB="0" anchor="b">
                    <a:lnL>
                      <a:noFill/>
                    </a:lnL>
                    <a:lnR>
                      <a:noFill/>
                    </a:lnR>
                    <a:lnT>
                      <a:noFill/>
                    </a:lnT>
                    <a:lnB>
                      <a:noFill/>
                    </a:lnB>
                  </a:tcPr>
                </a:tc>
                <a:extLst>
                  <a:ext uri="{0D108BD9-81ED-4DB2-BD59-A6C34878D82A}">
                    <a16:rowId xmlns:a16="http://schemas.microsoft.com/office/drawing/2014/main" val="1596148146"/>
                  </a:ext>
                </a:extLst>
              </a:tr>
              <a:tr h="190500">
                <a:tc>
                  <a:txBody>
                    <a:bodyPr/>
                    <a:lstStyle/>
                    <a:p>
                      <a:pPr algn="l" fontAlgn="b"/>
                      <a:r>
                        <a:rPr lang="en-US" sz="1100" b="0" i="0" u="none" strike="noStrike">
                          <a:solidFill>
                            <a:srgbClr val="000000"/>
                          </a:solidFill>
                          <a:effectLst/>
                          <a:latin typeface="Calibri" panose="020F0502020204030204" pitchFamily="34" charset="0"/>
                        </a:rPr>
                        <a:t>VNA</a:t>
                      </a: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VNA</a:t>
                      </a: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GPIB0::16::INSTR</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a:t>
                      </a:r>
                    </a:p>
                  </a:txBody>
                  <a:tcPr marL="9525" marR="9525" marT="9525" marB="0" anchor="b">
                    <a:lnL>
                      <a:noFill/>
                    </a:lnL>
                    <a:lnR>
                      <a:noFill/>
                    </a:lnR>
                    <a:lnT>
                      <a:noFill/>
                    </a:lnT>
                    <a:lnB>
                      <a:noFill/>
                    </a:lnB>
                  </a:tcPr>
                </a:tc>
                <a:extLst>
                  <a:ext uri="{0D108BD9-81ED-4DB2-BD59-A6C34878D82A}">
                    <a16:rowId xmlns:a16="http://schemas.microsoft.com/office/drawing/2014/main" val="3750813860"/>
                  </a:ext>
                </a:extLst>
              </a:tr>
              <a:tr h="190500">
                <a:tc>
                  <a:txBody>
                    <a:bodyPr/>
                    <a:lstStyle/>
                    <a:p>
                      <a:pPr algn="l" fontAlgn="b"/>
                      <a:r>
                        <a:rPr lang="en-US" sz="1100" b="0" i="0" u="none" strike="noStrike">
                          <a:solidFill>
                            <a:srgbClr val="000000"/>
                          </a:solidFill>
                          <a:effectLst/>
                          <a:latin typeface="Calibri" panose="020F0502020204030204" pitchFamily="34" charset="0"/>
                        </a:rPr>
                        <a:t>USBSigGen1</a:t>
                      </a: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SigGen</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22077</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9525" marR="9525" marT="9525" marB="0" anchor="b">
                    <a:lnL>
                      <a:noFill/>
                    </a:lnL>
                    <a:lnR>
                      <a:noFill/>
                    </a:lnR>
                    <a:lnT>
                      <a:noFill/>
                    </a:lnT>
                    <a:lnB>
                      <a:noFill/>
                    </a:lnB>
                  </a:tcPr>
                </a:tc>
                <a:extLst>
                  <a:ext uri="{0D108BD9-81ED-4DB2-BD59-A6C34878D82A}">
                    <a16:rowId xmlns:a16="http://schemas.microsoft.com/office/drawing/2014/main" val="2479828506"/>
                  </a:ext>
                </a:extLst>
              </a:tr>
              <a:tr h="190500">
                <a:tc>
                  <a:txBody>
                    <a:bodyPr/>
                    <a:lstStyle/>
                    <a:p>
                      <a:pPr algn="l" fontAlgn="b"/>
                      <a:r>
                        <a:rPr lang="en-US" sz="1100" b="0" i="0" u="none" strike="noStrike">
                          <a:solidFill>
                            <a:srgbClr val="000000"/>
                          </a:solidFill>
                          <a:effectLst/>
                          <a:latin typeface="Calibri" panose="020F0502020204030204" pitchFamily="34" charset="0"/>
                        </a:rPr>
                        <a:t>TempSense1</a:t>
                      </a: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Temp Sensor</a:t>
                      </a: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USB-TC01</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9525" marR="9525" marT="9525" marB="0" anchor="b">
                    <a:lnL>
                      <a:noFill/>
                    </a:lnL>
                    <a:lnR>
                      <a:noFill/>
                    </a:lnR>
                    <a:lnT>
                      <a:noFill/>
                    </a:lnT>
                    <a:lnB>
                      <a:noFill/>
                    </a:lnB>
                  </a:tcPr>
                </a:tc>
                <a:extLst>
                  <a:ext uri="{0D108BD9-81ED-4DB2-BD59-A6C34878D82A}">
                    <a16:rowId xmlns:a16="http://schemas.microsoft.com/office/drawing/2014/main" val="780888423"/>
                  </a:ext>
                </a:extLst>
              </a:tr>
              <a:tr h="190500">
                <a:tc>
                  <a:txBody>
                    <a:bodyPr/>
                    <a:lstStyle/>
                    <a:p>
                      <a:pPr algn="l" fontAlgn="b"/>
                      <a:r>
                        <a:rPr lang="en-US" sz="1100" b="0" i="0" u="none" strike="noStrike">
                          <a:solidFill>
                            <a:srgbClr val="000000"/>
                          </a:solidFill>
                          <a:effectLst/>
                          <a:latin typeface="Calibri" panose="020F0502020204030204" pitchFamily="34" charset="0"/>
                        </a:rPr>
                        <a:t>PNA</a:t>
                      </a: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PNA</a:t>
                      </a: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TCPIP0::169.254.70.180::inst0::INSTR</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9525" marR="9525" marT="9525" marB="0" anchor="b">
                    <a:lnL>
                      <a:noFill/>
                    </a:lnL>
                    <a:lnR>
                      <a:noFill/>
                    </a:lnR>
                    <a:lnT>
                      <a:noFill/>
                    </a:lnT>
                    <a:lnB>
                      <a:noFill/>
                    </a:lnB>
                  </a:tcPr>
                </a:tc>
                <a:extLst>
                  <a:ext uri="{0D108BD9-81ED-4DB2-BD59-A6C34878D82A}">
                    <a16:rowId xmlns:a16="http://schemas.microsoft.com/office/drawing/2014/main" val="2243359291"/>
                  </a:ext>
                </a:extLst>
              </a:tr>
              <a:tr h="190500">
                <a:tc>
                  <a:txBody>
                    <a:bodyPr/>
                    <a:lstStyle/>
                    <a:p>
                      <a:pPr algn="l" fontAlgn="b"/>
                      <a:r>
                        <a:rPr lang="en-US" sz="1100" b="0" i="0" u="none" strike="noStrike">
                          <a:solidFill>
                            <a:srgbClr val="000000"/>
                          </a:solidFill>
                          <a:effectLst/>
                          <a:latin typeface="Calibri" panose="020F0502020204030204" pitchFamily="34" charset="0"/>
                        </a:rPr>
                        <a:t>RFSwitch</a:t>
                      </a: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SWITCH</a:t>
                      </a: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GPIB0::29::INSTR</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a:t>
                      </a:r>
                    </a:p>
                  </a:txBody>
                  <a:tcPr marL="9525" marR="9525" marT="9525" marB="0" anchor="b">
                    <a:lnL>
                      <a:noFill/>
                    </a:lnL>
                    <a:lnR>
                      <a:noFill/>
                    </a:lnR>
                    <a:lnT>
                      <a:noFill/>
                    </a:lnT>
                    <a:lnB>
                      <a:noFill/>
                    </a:lnB>
                  </a:tcPr>
                </a:tc>
                <a:extLst>
                  <a:ext uri="{0D108BD9-81ED-4DB2-BD59-A6C34878D82A}">
                    <a16:rowId xmlns:a16="http://schemas.microsoft.com/office/drawing/2014/main" val="3425525300"/>
                  </a:ext>
                </a:extLst>
              </a:tr>
              <a:tr h="190500">
                <a:tc>
                  <a:txBody>
                    <a:bodyPr/>
                    <a:lstStyle/>
                    <a:p>
                      <a:pPr algn="l" fontAlgn="b"/>
                      <a:r>
                        <a:rPr lang="en-US" sz="1100" b="0" i="0" u="none" strike="noStrike">
                          <a:solidFill>
                            <a:srgbClr val="000000"/>
                          </a:solidFill>
                          <a:effectLst/>
                          <a:latin typeface="Calibri" panose="020F0502020204030204" pitchFamily="34" charset="0"/>
                        </a:rPr>
                        <a:t>Gantry</a:t>
                      </a: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Gantry</a:t>
                      </a:r>
                    </a:p>
                  </a:txBody>
                  <a:tcPr marL="9525" marR="9525" marT="9525"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COM7</a:t>
                      </a:r>
                    </a:p>
                  </a:txBody>
                  <a:tcPr marL="9525" marR="9525" marT="9525"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a:t>
                      </a:r>
                    </a:p>
                  </a:txBody>
                  <a:tcPr marL="9525" marR="9525" marT="9525" marB="0" anchor="b">
                    <a:lnL>
                      <a:noFill/>
                    </a:lnL>
                    <a:lnR>
                      <a:noFill/>
                    </a:lnR>
                    <a:lnT>
                      <a:noFill/>
                    </a:lnT>
                    <a:lnB>
                      <a:noFill/>
                    </a:lnB>
                  </a:tcPr>
                </a:tc>
                <a:tc>
                  <a:txBody>
                    <a:bodyPr/>
                    <a:lstStyle/>
                    <a:p>
                      <a:pPr algn="r" fontAlgn="b"/>
                      <a:r>
                        <a:rPr lang="en-US" sz="1100" b="0" i="0" u="none" strike="noStrike" dirty="0">
                          <a:solidFill>
                            <a:srgbClr val="000000"/>
                          </a:solidFill>
                          <a:effectLst/>
                          <a:latin typeface="Calibri" panose="020F0502020204030204" pitchFamily="34" charset="0"/>
                        </a:rPr>
                        <a:t>1</a:t>
                      </a:r>
                    </a:p>
                  </a:txBody>
                  <a:tcPr marL="9525" marR="9525" marT="9525" marB="0" anchor="b">
                    <a:lnL>
                      <a:noFill/>
                    </a:lnL>
                    <a:lnR>
                      <a:noFill/>
                    </a:lnR>
                    <a:lnT>
                      <a:noFill/>
                    </a:lnT>
                    <a:lnB>
                      <a:noFill/>
                    </a:lnB>
                  </a:tcPr>
                </a:tc>
                <a:extLst>
                  <a:ext uri="{0D108BD9-81ED-4DB2-BD59-A6C34878D82A}">
                    <a16:rowId xmlns:a16="http://schemas.microsoft.com/office/drawing/2014/main" val="2429329256"/>
                  </a:ext>
                </a:extLst>
              </a:tr>
            </a:tbl>
          </a:graphicData>
        </a:graphic>
      </p:graphicFrame>
      <p:sp>
        <p:nvSpPr>
          <p:cNvPr id="3" name="TextBox 2">
            <a:extLst>
              <a:ext uri="{FF2B5EF4-FFF2-40B4-BE49-F238E27FC236}">
                <a16:creationId xmlns:a16="http://schemas.microsoft.com/office/drawing/2014/main" id="{A57C5937-B04C-4558-9D65-9DE0587A50CF}"/>
              </a:ext>
            </a:extLst>
          </p:cNvPr>
          <p:cNvSpPr txBox="1"/>
          <p:nvPr/>
        </p:nvSpPr>
        <p:spPr>
          <a:xfrm>
            <a:off x="4516016" y="1164189"/>
            <a:ext cx="1412694" cy="369332"/>
          </a:xfrm>
          <a:prstGeom prst="rect">
            <a:avLst/>
          </a:prstGeom>
          <a:noFill/>
        </p:spPr>
        <p:txBody>
          <a:bodyPr wrap="none" rtlCol="0">
            <a:spAutoFit/>
          </a:bodyPr>
          <a:lstStyle/>
          <a:p>
            <a:r>
              <a:rPr lang="en-US" dirty="0"/>
              <a:t>VISA Address</a:t>
            </a:r>
          </a:p>
        </p:txBody>
      </p:sp>
      <p:sp>
        <p:nvSpPr>
          <p:cNvPr id="4" name="TextBox 3">
            <a:extLst>
              <a:ext uri="{FF2B5EF4-FFF2-40B4-BE49-F238E27FC236}">
                <a16:creationId xmlns:a16="http://schemas.microsoft.com/office/drawing/2014/main" id="{F2F8B368-5E48-4BF2-B6AF-D273EBF2D59E}"/>
              </a:ext>
            </a:extLst>
          </p:cNvPr>
          <p:cNvSpPr txBox="1"/>
          <p:nvPr/>
        </p:nvSpPr>
        <p:spPr>
          <a:xfrm>
            <a:off x="2121582" y="5433312"/>
            <a:ext cx="7178888" cy="923330"/>
          </a:xfrm>
          <a:prstGeom prst="rect">
            <a:avLst/>
          </a:prstGeom>
          <a:noFill/>
        </p:spPr>
        <p:txBody>
          <a:bodyPr wrap="none" rtlCol="0">
            <a:spAutoFit/>
          </a:bodyPr>
          <a:lstStyle/>
          <a:p>
            <a:r>
              <a:rPr lang="en-US" dirty="0"/>
              <a:t>*If Use Instrument = 1 and Instrument not found, </a:t>
            </a:r>
          </a:p>
          <a:p>
            <a:r>
              <a:rPr lang="en-US" dirty="0"/>
              <a:t>will generate error and give user 1 chance to correct …plug in ,turn on etc..</a:t>
            </a:r>
          </a:p>
          <a:p>
            <a:r>
              <a:rPr lang="en-US" dirty="0"/>
              <a:t>Else, will quit test</a:t>
            </a:r>
          </a:p>
        </p:txBody>
      </p:sp>
      <p:sp>
        <p:nvSpPr>
          <p:cNvPr id="7" name="TextBox 6">
            <a:extLst>
              <a:ext uri="{FF2B5EF4-FFF2-40B4-BE49-F238E27FC236}">
                <a16:creationId xmlns:a16="http://schemas.microsoft.com/office/drawing/2014/main" id="{E04FFE84-F324-437D-8A83-D4419257F489}"/>
              </a:ext>
            </a:extLst>
          </p:cNvPr>
          <p:cNvSpPr txBox="1"/>
          <p:nvPr/>
        </p:nvSpPr>
        <p:spPr>
          <a:xfrm>
            <a:off x="2042096" y="1164188"/>
            <a:ext cx="1252266" cy="369332"/>
          </a:xfrm>
          <a:prstGeom prst="rect">
            <a:avLst/>
          </a:prstGeom>
          <a:noFill/>
        </p:spPr>
        <p:txBody>
          <a:bodyPr wrap="none" rtlCol="0">
            <a:spAutoFit/>
          </a:bodyPr>
          <a:lstStyle/>
          <a:p>
            <a:r>
              <a:rPr lang="en-US" dirty="0"/>
              <a:t>INST NAME</a:t>
            </a:r>
          </a:p>
        </p:txBody>
      </p:sp>
      <p:sp>
        <p:nvSpPr>
          <p:cNvPr id="8" name="TextBox 7">
            <a:extLst>
              <a:ext uri="{FF2B5EF4-FFF2-40B4-BE49-F238E27FC236}">
                <a16:creationId xmlns:a16="http://schemas.microsoft.com/office/drawing/2014/main" id="{7ACEB927-70D3-4723-9D23-6B44FF80BE21}"/>
              </a:ext>
            </a:extLst>
          </p:cNvPr>
          <p:cNvSpPr txBox="1"/>
          <p:nvPr/>
        </p:nvSpPr>
        <p:spPr>
          <a:xfrm>
            <a:off x="6750236" y="1164188"/>
            <a:ext cx="665567" cy="369332"/>
          </a:xfrm>
          <a:prstGeom prst="rect">
            <a:avLst/>
          </a:prstGeom>
          <a:noFill/>
        </p:spPr>
        <p:txBody>
          <a:bodyPr wrap="none" rtlCol="0">
            <a:spAutoFit/>
          </a:bodyPr>
          <a:lstStyle/>
          <a:p>
            <a:r>
              <a:rPr lang="en-US" dirty="0"/>
              <a:t>USE*</a:t>
            </a:r>
          </a:p>
        </p:txBody>
      </p:sp>
    </p:spTree>
    <p:extLst>
      <p:ext uri="{BB962C8B-B14F-4D97-AF65-F5344CB8AC3E}">
        <p14:creationId xmlns:p14="http://schemas.microsoft.com/office/powerpoint/2010/main" val="16650168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9AA73AC-32AA-4856-B4FB-C0062C9E71DE}"/>
              </a:ext>
            </a:extLst>
          </p:cNvPr>
          <p:cNvSpPr txBox="1"/>
          <p:nvPr/>
        </p:nvSpPr>
        <p:spPr>
          <a:xfrm>
            <a:off x="258902" y="96568"/>
            <a:ext cx="3105337" cy="369332"/>
          </a:xfrm>
          <a:prstGeom prst="rect">
            <a:avLst/>
          </a:prstGeom>
          <a:noFill/>
        </p:spPr>
        <p:txBody>
          <a:bodyPr wrap="none" rtlCol="0">
            <a:spAutoFit/>
          </a:bodyPr>
          <a:lstStyle/>
          <a:p>
            <a:r>
              <a:rPr lang="en-US" dirty="0"/>
              <a:t>GetLoopParameters.vi (hidden)</a:t>
            </a:r>
          </a:p>
        </p:txBody>
      </p:sp>
      <p:sp>
        <p:nvSpPr>
          <p:cNvPr id="18" name="TextBox 17">
            <a:extLst>
              <a:ext uri="{FF2B5EF4-FFF2-40B4-BE49-F238E27FC236}">
                <a16:creationId xmlns:a16="http://schemas.microsoft.com/office/drawing/2014/main" id="{2847693E-F10C-40D0-8686-51AFECA93118}"/>
              </a:ext>
            </a:extLst>
          </p:cNvPr>
          <p:cNvSpPr txBox="1"/>
          <p:nvPr/>
        </p:nvSpPr>
        <p:spPr>
          <a:xfrm>
            <a:off x="766763" y="672911"/>
            <a:ext cx="4330416" cy="646331"/>
          </a:xfrm>
          <a:prstGeom prst="rect">
            <a:avLst/>
          </a:prstGeom>
          <a:noFill/>
        </p:spPr>
        <p:txBody>
          <a:bodyPr wrap="none" rtlCol="0">
            <a:spAutoFit/>
          </a:bodyPr>
          <a:lstStyle/>
          <a:p>
            <a:r>
              <a:rPr lang="en-US" dirty="0"/>
              <a:t>-Reads Values from: …TestParameters.tst file</a:t>
            </a:r>
          </a:p>
          <a:p>
            <a:r>
              <a:rPr lang="en-US" dirty="0"/>
              <a:t>-Writes Array to </a:t>
            </a:r>
            <a:r>
              <a:rPr lang="en-US" dirty="0" err="1"/>
              <a:t>TestParameters.tmp</a:t>
            </a:r>
            <a:endParaRPr lang="en-US" dirty="0"/>
          </a:p>
        </p:txBody>
      </p:sp>
      <p:pic>
        <p:nvPicPr>
          <p:cNvPr id="3" name="Picture 2">
            <a:extLst>
              <a:ext uri="{FF2B5EF4-FFF2-40B4-BE49-F238E27FC236}">
                <a16:creationId xmlns:a16="http://schemas.microsoft.com/office/drawing/2014/main" id="{7F7260AB-3766-4977-8694-8B779634227A}"/>
              </a:ext>
            </a:extLst>
          </p:cNvPr>
          <p:cNvPicPr>
            <a:picLocks noChangeAspect="1"/>
          </p:cNvPicPr>
          <p:nvPr/>
        </p:nvPicPr>
        <p:blipFill>
          <a:blip r:embed="rId2"/>
          <a:stretch>
            <a:fillRect/>
          </a:stretch>
        </p:blipFill>
        <p:spPr>
          <a:xfrm>
            <a:off x="869987" y="1981728"/>
            <a:ext cx="5000625" cy="1733550"/>
          </a:xfrm>
          <a:prstGeom prst="rect">
            <a:avLst/>
          </a:prstGeom>
        </p:spPr>
      </p:pic>
      <p:sp>
        <p:nvSpPr>
          <p:cNvPr id="17" name="TextBox 16">
            <a:extLst>
              <a:ext uri="{FF2B5EF4-FFF2-40B4-BE49-F238E27FC236}">
                <a16:creationId xmlns:a16="http://schemas.microsoft.com/office/drawing/2014/main" id="{D8B3F4ED-76B8-45C3-A3B5-698DA70F74F5}"/>
              </a:ext>
            </a:extLst>
          </p:cNvPr>
          <p:cNvSpPr txBox="1"/>
          <p:nvPr/>
        </p:nvSpPr>
        <p:spPr>
          <a:xfrm>
            <a:off x="863926" y="3715278"/>
            <a:ext cx="6094520" cy="2862322"/>
          </a:xfrm>
          <a:prstGeom prst="rect">
            <a:avLst/>
          </a:prstGeom>
          <a:noFill/>
        </p:spPr>
        <p:txBody>
          <a:bodyPr wrap="square">
            <a:spAutoFit/>
          </a:bodyPr>
          <a:lstStyle/>
          <a:p>
            <a:r>
              <a:rPr lang="en-US" sz="1500" dirty="0"/>
              <a:t>KEYS : 1… = LIST ; -2 = Ramp [Start, Stop, Step] ; -3 = File path (list of csv values starting at column 0 row 0)</a:t>
            </a:r>
          </a:p>
          <a:p>
            <a:endParaRPr lang="en-US" dirty="0"/>
          </a:p>
          <a:p>
            <a:r>
              <a:rPr lang="en-US" sz="1200" dirty="0"/>
              <a:t>LIST KEY: ENTER NUMBER of VALUES to ITERATE</a:t>
            </a:r>
          </a:p>
          <a:p>
            <a:r>
              <a:rPr lang="en-US" sz="1200" dirty="0"/>
              <a:t>List Values:  Left to Right in columns</a:t>
            </a:r>
          </a:p>
          <a:p>
            <a:endParaRPr lang="en-US" sz="1200" dirty="0"/>
          </a:p>
          <a:p>
            <a:r>
              <a:rPr lang="en-US" sz="1200" dirty="0"/>
              <a:t>Ramp Key(-2): Generate a ramp </a:t>
            </a:r>
          </a:p>
          <a:p>
            <a:r>
              <a:rPr lang="en-US" sz="1200" dirty="0"/>
              <a:t>Ramp Values: Column 1 = Start, Column 2 = Stop, Column 3 = Step</a:t>
            </a:r>
          </a:p>
          <a:p>
            <a:endParaRPr lang="en-US" sz="1200" dirty="0"/>
          </a:p>
          <a:p>
            <a:r>
              <a:rPr lang="en-US" sz="1200" dirty="0"/>
              <a:t>File Key(-3): Use a csv file list</a:t>
            </a:r>
          </a:p>
          <a:p>
            <a:r>
              <a:rPr lang="en-US" sz="1200" dirty="0"/>
              <a:t>File Values: Absolute File Path</a:t>
            </a:r>
          </a:p>
          <a:p>
            <a:r>
              <a:rPr lang="en-US" sz="1200" dirty="0"/>
              <a:t>File Type: 1D array of values in column. Start at top.</a:t>
            </a:r>
          </a:p>
          <a:p>
            <a:endParaRPr lang="en-US" sz="1200" dirty="0"/>
          </a:p>
          <a:p>
            <a:endParaRPr lang="en-US" sz="1200" dirty="0"/>
          </a:p>
        </p:txBody>
      </p:sp>
      <p:sp>
        <p:nvSpPr>
          <p:cNvPr id="11" name="TextBox 10">
            <a:extLst>
              <a:ext uri="{FF2B5EF4-FFF2-40B4-BE49-F238E27FC236}">
                <a16:creationId xmlns:a16="http://schemas.microsoft.com/office/drawing/2014/main" id="{6D4D6AF7-A922-4CC2-B527-F302F62DF761}"/>
              </a:ext>
            </a:extLst>
          </p:cNvPr>
          <p:cNvSpPr txBox="1"/>
          <p:nvPr/>
        </p:nvSpPr>
        <p:spPr>
          <a:xfrm>
            <a:off x="8202967" y="1145219"/>
            <a:ext cx="2425344" cy="369332"/>
          </a:xfrm>
          <a:prstGeom prst="rect">
            <a:avLst/>
          </a:prstGeom>
          <a:noFill/>
        </p:spPr>
        <p:txBody>
          <a:bodyPr wrap="none" rtlCol="0">
            <a:spAutoFit/>
          </a:bodyPr>
          <a:lstStyle/>
          <a:p>
            <a:r>
              <a:rPr lang="en-US" dirty="0"/>
              <a:t>File created from values</a:t>
            </a:r>
          </a:p>
        </p:txBody>
      </p:sp>
      <p:pic>
        <p:nvPicPr>
          <p:cNvPr id="20" name="Picture 19" descr="A picture containing text&#10;&#10;Description automatically generated">
            <a:extLst>
              <a:ext uri="{FF2B5EF4-FFF2-40B4-BE49-F238E27FC236}">
                <a16:creationId xmlns:a16="http://schemas.microsoft.com/office/drawing/2014/main" id="{8EAB0BBF-F896-41AA-AA9D-691E656412F7}"/>
              </a:ext>
            </a:extLst>
          </p:cNvPr>
          <p:cNvPicPr>
            <a:picLocks noChangeAspect="1"/>
          </p:cNvPicPr>
          <p:nvPr/>
        </p:nvPicPr>
        <p:blipFill>
          <a:blip r:embed="rId3"/>
          <a:stretch>
            <a:fillRect/>
          </a:stretch>
        </p:blipFill>
        <p:spPr>
          <a:xfrm>
            <a:off x="8073084" y="1446413"/>
            <a:ext cx="3343275" cy="3219450"/>
          </a:xfrm>
          <a:prstGeom prst="rect">
            <a:avLst/>
          </a:prstGeom>
        </p:spPr>
      </p:pic>
      <p:sp>
        <p:nvSpPr>
          <p:cNvPr id="25" name="Arrow: Down 24">
            <a:extLst>
              <a:ext uri="{FF2B5EF4-FFF2-40B4-BE49-F238E27FC236}">
                <a16:creationId xmlns:a16="http://schemas.microsoft.com/office/drawing/2014/main" id="{A253730E-646B-4224-BAFD-BA51881A4046}"/>
              </a:ext>
            </a:extLst>
          </p:cNvPr>
          <p:cNvSpPr/>
          <p:nvPr/>
        </p:nvSpPr>
        <p:spPr>
          <a:xfrm>
            <a:off x="9942990" y="4734373"/>
            <a:ext cx="274258" cy="83192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EB14170A-D2E1-4F9E-9DAF-A37389E2ACAE}"/>
              </a:ext>
            </a:extLst>
          </p:cNvPr>
          <p:cNvSpPr txBox="1"/>
          <p:nvPr/>
        </p:nvSpPr>
        <p:spPr>
          <a:xfrm>
            <a:off x="9783403" y="5528115"/>
            <a:ext cx="593432" cy="369332"/>
          </a:xfrm>
          <a:prstGeom prst="rect">
            <a:avLst/>
          </a:prstGeom>
          <a:noFill/>
        </p:spPr>
        <p:txBody>
          <a:bodyPr wrap="none" rtlCol="0">
            <a:spAutoFit/>
          </a:bodyPr>
          <a:lstStyle/>
          <a:p>
            <a:r>
              <a:rPr lang="en-US" dirty="0"/>
              <a:t>40.0</a:t>
            </a:r>
          </a:p>
        </p:txBody>
      </p:sp>
      <p:sp>
        <p:nvSpPr>
          <p:cNvPr id="27" name="TextBox 26">
            <a:extLst>
              <a:ext uri="{FF2B5EF4-FFF2-40B4-BE49-F238E27FC236}">
                <a16:creationId xmlns:a16="http://schemas.microsoft.com/office/drawing/2014/main" id="{9BB0DAA2-3632-470F-8026-424DA9BD6572}"/>
              </a:ext>
            </a:extLst>
          </p:cNvPr>
          <p:cNvSpPr txBox="1"/>
          <p:nvPr/>
        </p:nvSpPr>
        <p:spPr>
          <a:xfrm>
            <a:off x="1057678" y="1412313"/>
            <a:ext cx="4613122" cy="553998"/>
          </a:xfrm>
          <a:prstGeom prst="rect">
            <a:avLst/>
          </a:prstGeom>
          <a:noFill/>
        </p:spPr>
        <p:txBody>
          <a:bodyPr wrap="none" rtlCol="0">
            <a:spAutoFit/>
          </a:bodyPr>
          <a:lstStyle/>
          <a:p>
            <a:r>
              <a:rPr lang="en-US" sz="1500" dirty="0"/>
              <a:t>This file will sweep Freq from 20-40GHz in 100MHz steps</a:t>
            </a:r>
          </a:p>
          <a:p>
            <a:r>
              <a:rPr lang="en-US" sz="1500" dirty="0"/>
              <a:t>While no other sweeps are done in this case</a:t>
            </a:r>
          </a:p>
        </p:txBody>
      </p:sp>
    </p:spTree>
    <p:extLst>
      <p:ext uri="{BB962C8B-B14F-4D97-AF65-F5344CB8AC3E}">
        <p14:creationId xmlns:p14="http://schemas.microsoft.com/office/powerpoint/2010/main" val="4058922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F43BF-7847-4A65-AEAE-40A44CBB5F36}"/>
              </a:ext>
            </a:extLst>
          </p:cNvPr>
          <p:cNvSpPr>
            <a:spLocks noGrp="1"/>
          </p:cNvSpPr>
          <p:nvPr>
            <p:ph type="title"/>
          </p:nvPr>
        </p:nvSpPr>
        <p:spPr/>
        <p:txBody>
          <a:bodyPr/>
          <a:lstStyle/>
          <a:p>
            <a:r>
              <a:rPr lang="en-US" dirty="0"/>
              <a:t>Rage ATE</a:t>
            </a:r>
          </a:p>
        </p:txBody>
      </p:sp>
      <p:sp>
        <p:nvSpPr>
          <p:cNvPr id="3" name="Content Placeholder 2">
            <a:extLst>
              <a:ext uri="{FF2B5EF4-FFF2-40B4-BE49-F238E27FC236}">
                <a16:creationId xmlns:a16="http://schemas.microsoft.com/office/drawing/2014/main" id="{2EE0C61F-9DCD-4C83-8B55-DCC464D964EC}"/>
              </a:ext>
            </a:extLst>
          </p:cNvPr>
          <p:cNvSpPr>
            <a:spLocks noGrp="1"/>
          </p:cNvSpPr>
          <p:nvPr>
            <p:ph idx="1"/>
          </p:nvPr>
        </p:nvSpPr>
        <p:spPr/>
        <p:txBody>
          <a:bodyPr>
            <a:normAutofit/>
          </a:bodyPr>
          <a:lstStyle/>
          <a:p>
            <a:r>
              <a:rPr lang="en-US" dirty="0"/>
              <a:t>Components cont.</a:t>
            </a:r>
          </a:p>
          <a:p>
            <a:pPr lvl="1"/>
            <a:endParaRPr lang="en-US" dirty="0"/>
          </a:p>
          <a:p>
            <a:pPr lvl="1"/>
            <a:r>
              <a:rPr lang="en-US" dirty="0"/>
              <a:t>Iterator: (Typically called by the sequencer), Constructs the loop by taking in user input to drive the testing parameters. A front end  .</a:t>
            </a:r>
            <a:r>
              <a:rPr lang="en-US" dirty="0" err="1"/>
              <a:t>tst</a:t>
            </a:r>
            <a:r>
              <a:rPr lang="en-US" dirty="0"/>
              <a:t> file using various control methods to allow user to test over a variety of test parameter types [</a:t>
            </a:r>
            <a:r>
              <a:rPr lang="en-US" dirty="0" err="1"/>
              <a:t>Start,Stop,Step</a:t>
            </a:r>
            <a:r>
              <a:rPr lang="en-US" dirty="0"/>
              <a:t> | List | File]. Essentially, this is the engine that drives the test looping algorithm. The Iterator is the inner loop of the SW and will call the measurement module (payload) each time an execution occurs.</a:t>
            </a:r>
          </a:p>
        </p:txBody>
      </p:sp>
    </p:spTree>
    <p:extLst>
      <p:ext uri="{BB962C8B-B14F-4D97-AF65-F5344CB8AC3E}">
        <p14:creationId xmlns:p14="http://schemas.microsoft.com/office/powerpoint/2010/main" val="9845439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F43BF-7847-4A65-AEAE-40A44CBB5F36}"/>
              </a:ext>
            </a:extLst>
          </p:cNvPr>
          <p:cNvSpPr>
            <a:spLocks noGrp="1"/>
          </p:cNvSpPr>
          <p:nvPr>
            <p:ph type="title"/>
          </p:nvPr>
        </p:nvSpPr>
        <p:spPr/>
        <p:txBody>
          <a:bodyPr/>
          <a:lstStyle/>
          <a:p>
            <a:r>
              <a:rPr lang="en-US" dirty="0"/>
              <a:t>Rage ATE</a:t>
            </a:r>
          </a:p>
        </p:txBody>
      </p:sp>
      <p:sp>
        <p:nvSpPr>
          <p:cNvPr id="3" name="Content Placeholder 2">
            <a:extLst>
              <a:ext uri="{FF2B5EF4-FFF2-40B4-BE49-F238E27FC236}">
                <a16:creationId xmlns:a16="http://schemas.microsoft.com/office/drawing/2014/main" id="{2EE0C61F-9DCD-4C83-8B55-DCC464D964EC}"/>
              </a:ext>
            </a:extLst>
          </p:cNvPr>
          <p:cNvSpPr>
            <a:spLocks noGrp="1"/>
          </p:cNvSpPr>
          <p:nvPr>
            <p:ph idx="1"/>
          </p:nvPr>
        </p:nvSpPr>
        <p:spPr/>
        <p:txBody>
          <a:bodyPr>
            <a:normAutofit/>
          </a:bodyPr>
          <a:lstStyle/>
          <a:p>
            <a:r>
              <a:rPr lang="en-US" dirty="0"/>
              <a:t>Components cont.</a:t>
            </a:r>
          </a:p>
          <a:p>
            <a:pPr lvl="1"/>
            <a:endParaRPr lang="en-US" dirty="0"/>
          </a:p>
          <a:p>
            <a:pPr lvl="1"/>
            <a:r>
              <a:rPr lang="en-US" dirty="0"/>
              <a:t>Setup.VI: A unique to test vi that sets up the instruments ONE time for preparation to be looped. EG a typical operating point for the DUT. A visual or electronic verification can be built into the module for the user to determine whether the setup is ready to continue testing or abort to check for issues.</a:t>
            </a:r>
          </a:p>
          <a:p>
            <a:pPr lvl="1"/>
            <a:r>
              <a:rPr lang="en-US" dirty="0"/>
              <a:t>Measurement.VI : Data collection portion of the SW. Instrument setup and target ranges should be close to ideal. This VI will determine the iteration time of the test. Each iteration is a “one shot” measurement of all the data that will be required for each condition[Temp, Volt, Freq, Power, </a:t>
            </a:r>
            <a:r>
              <a:rPr lang="en-US" dirty="0" err="1"/>
              <a:t>etc</a:t>
            </a:r>
            <a:r>
              <a:rPr lang="en-US" dirty="0"/>
              <a:t>…]</a:t>
            </a:r>
          </a:p>
        </p:txBody>
      </p:sp>
    </p:spTree>
    <p:extLst>
      <p:ext uri="{BB962C8B-B14F-4D97-AF65-F5344CB8AC3E}">
        <p14:creationId xmlns:p14="http://schemas.microsoft.com/office/powerpoint/2010/main" val="42948904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D5695F3-F7D2-4169-894E-1EE171165FFF}"/>
              </a:ext>
            </a:extLst>
          </p:cNvPr>
          <p:cNvPicPr>
            <a:picLocks noChangeAspect="1"/>
          </p:cNvPicPr>
          <p:nvPr/>
        </p:nvPicPr>
        <p:blipFill>
          <a:blip r:embed="rId2"/>
          <a:stretch>
            <a:fillRect/>
          </a:stretch>
        </p:blipFill>
        <p:spPr>
          <a:xfrm>
            <a:off x="1162975" y="2784422"/>
            <a:ext cx="7426843" cy="2841708"/>
          </a:xfrm>
          <a:prstGeom prst="rect">
            <a:avLst/>
          </a:prstGeom>
        </p:spPr>
      </p:pic>
      <p:sp>
        <p:nvSpPr>
          <p:cNvPr id="4" name="Rectangle: Rounded Corners 3">
            <a:extLst>
              <a:ext uri="{FF2B5EF4-FFF2-40B4-BE49-F238E27FC236}">
                <a16:creationId xmlns:a16="http://schemas.microsoft.com/office/drawing/2014/main" id="{3421A2C3-9AFA-4A18-BBAB-35B33584EE58}"/>
              </a:ext>
            </a:extLst>
          </p:cNvPr>
          <p:cNvSpPr/>
          <p:nvPr/>
        </p:nvSpPr>
        <p:spPr>
          <a:xfrm>
            <a:off x="2181037" y="4553527"/>
            <a:ext cx="4824715" cy="657692"/>
          </a:xfrm>
          <a:prstGeom prst="roundRect">
            <a:avLst/>
          </a:prstGeom>
          <a:solidFill>
            <a:srgbClr val="FFFF00">
              <a:alpha val="1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72D110F-B30F-43D2-8E22-054B7B18E8B4}"/>
              </a:ext>
            </a:extLst>
          </p:cNvPr>
          <p:cNvSpPr txBox="1"/>
          <p:nvPr/>
        </p:nvSpPr>
        <p:spPr>
          <a:xfrm>
            <a:off x="1162975" y="502977"/>
            <a:ext cx="7684091" cy="2031325"/>
          </a:xfrm>
          <a:prstGeom prst="rect">
            <a:avLst/>
          </a:prstGeom>
          <a:noFill/>
        </p:spPr>
        <p:txBody>
          <a:bodyPr wrap="none" rtlCol="0">
            <a:spAutoFit/>
          </a:bodyPr>
          <a:lstStyle/>
          <a:p>
            <a:r>
              <a:rPr lang="en-US" dirty="0"/>
              <a:t>A typical test folder containing vi’s strict to the test.</a:t>
            </a:r>
          </a:p>
          <a:p>
            <a:r>
              <a:rPr lang="en-US" dirty="0"/>
              <a:t>In this case there are 2 tests in the folder:</a:t>
            </a:r>
          </a:p>
          <a:p>
            <a:r>
              <a:rPr lang="en-US" dirty="0"/>
              <a:t>1. Tetra_RX_IF-FILTER</a:t>
            </a:r>
          </a:p>
          <a:p>
            <a:r>
              <a:rPr lang="en-US" dirty="0"/>
              <a:t>2. Tetra_RX</a:t>
            </a:r>
          </a:p>
          <a:p>
            <a:r>
              <a:rPr lang="en-US" dirty="0"/>
              <a:t>Using Tetra_RX as an example, there are 2 main vi’s that remain strict to the test</a:t>
            </a:r>
          </a:p>
          <a:p>
            <a:pPr marL="342900" indent="-342900">
              <a:buAutoNum type="arabicPeriod"/>
            </a:pPr>
            <a:r>
              <a:rPr lang="en-US" dirty="0"/>
              <a:t>Tetra_RX_Setup.vi</a:t>
            </a:r>
          </a:p>
          <a:p>
            <a:pPr marL="342900" indent="-342900">
              <a:buAutoNum type="arabicPeriod"/>
            </a:pPr>
            <a:r>
              <a:rPr lang="en-US" dirty="0"/>
              <a:t>Tetra_RX_Payload.vi</a:t>
            </a:r>
          </a:p>
        </p:txBody>
      </p:sp>
    </p:spTree>
    <p:extLst>
      <p:ext uri="{BB962C8B-B14F-4D97-AF65-F5344CB8AC3E}">
        <p14:creationId xmlns:p14="http://schemas.microsoft.com/office/powerpoint/2010/main" val="33694428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3F5AEFB-2C20-447C-ABDD-CDAF7044416C}"/>
              </a:ext>
            </a:extLst>
          </p:cNvPr>
          <p:cNvSpPr/>
          <p:nvPr/>
        </p:nvSpPr>
        <p:spPr>
          <a:xfrm>
            <a:off x="3737500" y="213064"/>
            <a:ext cx="4447712" cy="5237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Sequencer</a:t>
            </a:r>
          </a:p>
        </p:txBody>
      </p:sp>
      <p:sp>
        <p:nvSpPr>
          <p:cNvPr id="3" name="Rectangle 2">
            <a:extLst>
              <a:ext uri="{FF2B5EF4-FFF2-40B4-BE49-F238E27FC236}">
                <a16:creationId xmlns:a16="http://schemas.microsoft.com/office/drawing/2014/main" id="{921793F7-C1BC-4BC1-9646-A824876C15A4}"/>
              </a:ext>
            </a:extLst>
          </p:cNvPr>
          <p:cNvSpPr/>
          <p:nvPr/>
        </p:nvSpPr>
        <p:spPr>
          <a:xfrm>
            <a:off x="3737500" y="736847"/>
            <a:ext cx="1988598" cy="14736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User</a:t>
            </a:r>
          </a:p>
          <a:p>
            <a:pPr algn="ctr"/>
            <a:endParaRPr lang="en-US" dirty="0"/>
          </a:p>
          <a:p>
            <a:r>
              <a:rPr lang="en-US" sz="1600" dirty="0"/>
              <a:t>-Inst File</a:t>
            </a:r>
          </a:p>
          <a:p>
            <a:r>
              <a:rPr lang="en-US" sz="1600" dirty="0"/>
              <a:t>-Test Parameter File</a:t>
            </a:r>
          </a:p>
          <a:p>
            <a:r>
              <a:rPr lang="en-US" sz="1600" dirty="0"/>
              <a:t>-Test Data Options</a:t>
            </a:r>
          </a:p>
        </p:txBody>
      </p:sp>
      <p:sp>
        <p:nvSpPr>
          <p:cNvPr id="6" name="Rectangle 5">
            <a:extLst>
              <a:ext uri="{FF2B5EF4-FFF2-40B4-BE49-F238E27FC236}">
                <a16:creationId xmlns:a16="http://schemas.microsoft.com/office/drawing/2014/main" id="{4361170A-862B-4D58-A313-1F8BA557429A}"/>
              </a:ext>
            </a:extLst>
          </p:cNvPr>
          <p:cNvSpPr/>
          <p:nvPr/>
        </p:nvSpPr>
        <p:spPr>
          <a:xfrm>
            <a:off x="5726098" y="736846"/>
            <a:ext cx="2459114" cy="14736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TOP</a:t>
            </a:r>
          </a:p>
          <a:p>
            <a:pPr algn="ctr"/>
            <a:endParaRPr lang="en-US" dirty="0"/>
          </a:p>
          <a:p>
            <a:pPr algn="ctr"/>
            <a:r>
              <a:rPr lang="en-US" dirty="0"/>
              <a:t>Edit</a:t>
            </a:r>
          </a:p>
          <a:p>
            <a:r>
              <a:rPr lang="en-US" sz="1600" dirty="0"/>
              <a:t>-vi to run in sequence:</a:t>
            </a:r>
          </a:p>
          <a:p>
            <a:r>
              <a:rPr lang="en-US" sz="1600" dirty="0"/>
              <a:t>-</a:t>
            </a:r>
            <a:r>
              <a:rPr lang="en-US" sz="1600" dirty="0" err="1"/>
              <a:t>CreateStation</a:t>
            </a:r>
            <a:r>
              <a:rPr lang="en-US" sz="1600" dirty="0"/>
              <a:t> References</a:t>
            </a:r>
          </a:p>
          <a:p>
            <a:r>
              <a:rPr lang="en-US" sz="1600" dirty="0"/>
              <a:t>-</a:t>
            </a:r>
            <a:r>
              <a:rPr lang="en-US" sz="1600" dirty="0" err="1"/>
              <a:t>GetLoopParameters</a:t>
            </a:r>
            <a:endParaRPr lang="en-US" sz="1600" dirty="0"/>
          </a:p>
          <a:p>
            <a:r>
              <a:rPr lang="en-US" sz="1600" dirty="0"/>
              <a:t>-System Test Iterator</a:t>
            </a:r>
          </a:p>
          <a:p>
            <a:endParaRPr lang="en-US" sz="1600" dirty="0"/>
          </a:p>
        </p:txBody>
      </p:sp>
    </p:spTree>
    <p:extLst>
      <p:ext uri="{BB962C8B-B14F-4D97-AF65-F5344CB8AC3E}">
        <p14:creationId xmlns:p14="http://schemas.microsoft.com/office/powerpoint/2010/main" val="13175218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383EEFB-52AA-46E8-995C-1A9A8A4E5963}"/>
              </a:ext>
            </a:extLst>
          </p:cNvPr>
          <p:cNvSpPr txBox="1"/>
          <p:nvPr/>
        </p:nvSpPr>
        <p:spPr>
          <a:xfrm>
            <a:off x="3115889" y="4297476"/>
            <a:ext cx="6097554" cy="369332"/>
          </a:xfrm>
          <a:prstGeom prst="rect">
            <a:avLst/>
          </a:prstGeom>
          <a:noFill/>
        </p:spPr>
        <p:txBody>
          <a:bodyPr wrap="square">
            <a:spAutoFit/>
          </a:bodyPr>
          <a:lstStyle/>
          <a:p>
            <a:r>
              <a:rPr lang="en-US" dirty="0"/>
              <a:t>skip_18p75_1_5_-20_-1_-1_20p001000_sigcapt1.csv</a:t>
            </a:r>
          </a:p>
        </p:txBody>
      </p:sp>
      <p:sp>
        <p:nvSpPr>
          <p:cNvPr id="13" name="TextBox 12">
            <a:extLst>
              <a:ext uri="{FF2B5EF4-FFF2-40B4-BE49-F238E27FC236}">
                <a16:creationId xmlns:a16="http://schemas.microsoft.com/office/drawing/2014/main" id="{0B19869C-7660-4A7B-9675-71AC7FF66F1E}"/>
              </a:ext>
            </a:extLst>
          </p:cNvPr>
          <p:cNvSpPr txBox="1"/>
          <p:nvPr/>
        </p:nvSpPr>
        <p:spPr>
          <a:xfrm>
            <a:off x="1870744" y="3438951"/>
            <a:ext cx="8959442" cy="369332"/>
          </a:xfrm>
          <a:prstGeom prst="rect">
            <a:avLst/>
          </a:prstGeom>
          <a:noFill/>
        </p:spPr>
        <p:txBody>
          <a:bodyPr wrap="square">
            <a:spAutoFit/>
          </a:bodyPr>
          <a:lstStyle/>
          <a:p>
            <a:r>
              <a:rPr lang="en-US" sz="1800" b="0" i="0" u="none" strike="noStrike" dirty="0">
                <a:solidFill>
                  <a:srgbClr val="000000"/>
                </a:solidFill>
                <a:effectLst/>
                <a:latin typeface="Calibri" panose="020F0502020204030204" pitchFamily="34" charset="0"/>
              </a:rPr>
              <a:t>TEMP_</a:t>
            </a:r>
            <a:r>
              <a:rPr lang="en-US" dirty="0">
                <a:solidFill>
                  <a:srgbClr val="000000"/>
                </a:solidFill>
                <a:latin typeface="Calibri" panose="020F0502020204030204" pitchFamily="34" charset="0"/>
              </a:rPr>
              <a:t>VOLTAGE_</a:t>
            </a:r>
            <a:r>
              <a:rPr lang="en-US" sz="1800" b="0" i="0" u="none" strike="noStrike" dirty="0">
                <a:solidFill>
                  <a:srgbClr val="000000"/>
                </a:solidFill>
                <a:effectLst/>
                <a:latin typeface="Calibri" panose="020F0502020204030204" pitchFamily="34" charset="0"/>
              </a:rPr>
              <a:t>PORT_REF</a:t>
            </a:r>
            <a:r>
              <a:rPr lang="en-US" dirty="0">
                <a:solidFill>
                  <a:srgbClr val="000000"/>
                </a:solidFill>
                <a:latin typeface="Calibri" panose="020F0502020204030204" pitchFamily="34" charset="0"/>
              </a:rPr>
              <a:t> </a:t>
            </a:r>
            <a:r>
              <a:rPr lang="en-US" sz="1800" b="0" i="0" u="none" strike="noStrike" dirty="0">
                <a:solidFill>
                  <a:srgbClr val="000000"/>
                </a:solidFill>
                <a:effectLst/>
                <a:latin typeface="Calibri" panose="020F0502020204030204" pitchFamily="34" charset="0"/>
              </a:rPr>
              <a:t>POWER_RF</a:t>
            </a:r>
            <a:r>
              <a:rPr lang="en-US" dirty="0">
                <a:solidFill>
                  <a:srgbClr val="000000"/>
                </a:solidFill>
                <a:latin typeface="Calibri" panose="020F0502020204030204" pitchFamily="34" charset="0"/>
              </a:rPr>
              <a:t> </a:t>
            </a:r>
            <a:r>
              <a:rPr lang="en-US" sz="1800" b="0" i="0" u="none" strike="noStrike" dirty="0">
                <a:solidFill>
                  <a:srgbClr val="000000"/>
                </a:solidFill>
                <a:effectLst/>
                <a:latin typeface="Calibri" panose="020F0502020204030204" pitchFamily="34" charset="0"/>
              </a:rPr>
              <a:t>POWER_RX</a:t>
            </a:r>
            <a:r>
              <a:rPr lang="en-US" dirty="0">
                <a:solidFill>
                  <a:srgbClr val="000000"/>
                </a:solidFill>
                <a:latin typeface="Calibri" panose="020F0502020204030204" pitchFamily="34" charset="0"/>
              </a:rPr>
              <a:t> </a:t>
            </a:r>
            <a:r>
              <a:rPr lang="en-US" sz="1800" b="0" i="0" u="none" strike="noStrike" dirty="0">
                <a:solidFill>
                  <a:srgbClr val="000000"/>
                </a:solidFill>
                <a:effectLst/>
                <a:latin typeface="Calibri" panose="020F0502020204030204" pitchFamily="34" charset="0"/>
              </a:rPr>
              <a:t>FILT_RX</a:t>
            </a:r>
            <a:r>
              <a:rPr lang="en-US" dirty="0">
                <a:solidFill>
                  <a:srgbClr val="000000"/>
                </a:solidFill>
                <a:latin typeface="Calibri" panose="020F0502020204030204" pitchFamily="34" charset="0"/>
              </a:rPr>
              <a:t> </a:t>
            </a:r>
            <a:r>
              <a:rPr lang="en-US" sz="1800" b="0" i="0" u="none" strike="noStrike" dirty="0">
                <a:solidFill>
                  <a:srgbClr val="000000"/>
                </a:solidFill>
                <a:effectLst/>
                <a:latin typeface="Calibri" panose="020F0502020204030204" pitchFamily="34" charset="0"/>
              </a:rPr>
              <a:t>GAIN_RF</a:t>
            </a:r>
            <a:r>
              <a:rPr lang="en-US" dirty="0">
                <a:solidFill>
                  <a:srgbClr val="000000"/>
                </a:solidFill>
                <a:latin typeface="Calibri" panose="020F0502020204030204" pitchFamily="34" charset="0"/>
              </a:rPr>
              <a:t> </a:t>
            </a:r>
            <a:r>
              <a:rPr lang="en-US" sz="1800" b="0" i="0" u="none" strike="noStrike" dirty="0">
                <a:solidFill>
                  <a:srgbClr val="000000"/>
                </a:solidFill>
                <a:effectLst/>
                <a:latin typeface="Calibri" panose="020F0502020204030204" pitchFamily="34" charset="0"/>
              </a:rPr>
              <a:t>FREQ_CAP TYPE</a:t>
            </a:r>
            <a:r>
              <a:rPr lang="en-US" dirty="0"/>
              <a:t> </a:t>
            </a:r>
          </a:p>
        </p:txBody>
      </p:sp>
      <p:cxnSp>
        <p:nvCxnSpPr>
          <p:cNvPr id="15" name="Straight Arrow Connector 14">
            <a:extLst>
              <a:ext uri="{FF2B5EF4-FFF2-40B4-BE49-F238E27FC236}">
                <a16:creationId xmlns:a16="http://schemas.microsoft.com/office/drawing/2014/main" id="{6CD958FB-E76B-4BC8-9D29-C810705C1A8D}"/>
              </a:ext>
            </a:extLst>
          </p:cNvPr>
          <p:cNvCxnSpPr>
            <a:cxnSpLocks/>
          </p:cNvCxnSpPr>
          <p:nvPr/>
        </p:nvCxnSpPr>
        <p:spPr>
          <a:xfrm>
            <a:off x="2332139" y="3737620"/>
            <a:ext cx="889233" cy="6291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7F3601E-F7F3-4214-BD04-5A6232AC8EE8}"/>
              </a:ext>
            </a:extLst>
          </p:cNvPr>
          <p:cNvCxnSpPr>
            <a:cxnSpLocks/>
          </p:cNvCxnSpPr>
          <p:nvPr/>
        </p:nvCxnSpPr>
        <p:spPr>
          <a:xfrm>
            <a:off x="3053592" y="3737620"/>
            <a:ext cx="889233" cy="6291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2812D7B-613B-422D-B67A-8407CEB63F14}"/>
              </a:ext>
            </a:extLst>
          </p:cNvPr>
          <p:cNvCxnSpPr>
            <a:cxnSpLocks/>
          </p:cNvCxnSpPr>
          <p:nvPr/>
        </p:nvCxnSpPr>
        <p:spPr>
          <a:xfrm>
            <a:off x="3875713" y="3737620"/>
            <a:ext cx="511728" cy="6291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4F3B99BD-6BBB-4857-AE4F-715DB7816C6F}"/>
              </a:ext>
            </a:extLst>
          </p:cNvPr>
          <p:cNvCxnSpPr>
            <a:cxnSpLocks/>
          </p:cNvCxnSpPr>
          <p:nvPr/>
        </p:nvCxnSpPr>
        <p:spPr>
          <a:xfrm flipH="1">
            <a:off x="4630722" y="3733425"/>
            <a:ext cx="49713" cy="6291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561BE4A9-7695-4562-98BA-0708E0022A60}"/>
              </a:ext>
            </a:extLst>
          </p:cNvPr>
          <p:cNvCxnSpPr>
            <a:cxnSpLocks/>
          </p:cNvCxnSpPr>
          <p:nvPr/>
        </p:nvCxnSpPr>
        <p:spPr>
          <a:xfrm flipH="1">
            <a:off x="5069234" y="3733425"/>
            <a:ext cx="787324" cy="5640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53D91073-4C99-411E-8D43-180E1B0BECD9}"/>
              </a:ext>
            </a:extLst>
          </p:cNvPr>
          <p:cNvCxnSpPr>
            <a:cxnSpLocks/>
          </p:cNvCxnSpPr>
          <p:nvPr/>
        </p:nvCxnSpPr>
        <p:spPr>
          <a:xfrm flipH="1">
            <a:off x="5462896" y="3733425"/>
            <a:ext cx="1237475" cy="6291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36B4FFC4-E9B5-413C-B08D-48EE25888606}"/>
              </a:ext>
            </a:extLst>
          </p:cNvPr>
          <p:cNvCxnSpPr>
            <a:cxnSpLocks/>
          </p:cNvCxnSpPr>
          <p:nvPr/>
        </p:nvCxnSpPr>
        <p:spPr>
          <a:xfrm flipH="1">
            <a:off x="5783211" y="3681103"/>
            <a:ext cx="1887362" cy="6814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19D059C5-9DE8-4C8E-9522-D07E06A14D1B}"/>
              </a:ext>
            </a:extLst>
          </p:cNvPr>
          <p:cNvCxnSpPr>
            <a:cxnSpLocks/>
          </p:cNvCxnSpPr>
          <p:nvPr/>
        </p:nvCxnSpPr>
        <p:spPr>
          <a:xfrm flipH="1">
            <a:off x="6521491" y="3707263"/>
            <a:ext cx="1887362" cy="6814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8875B9E-7569-488C-B5F1-EFE787A2EE6F}"/>
              </a:ext>
            </a:extLst>
          </p:cNvPr>
          <p:cNvCxnSpPr>
            <a:cxnSpLocks/>
          </p:cNvCxnSpPr>
          <p:nvPr/>
        </p:nvCxnSpPr>
        <p:spPr>
          <a:xfrm flipH="1">
            <a:off x="7520481" y="3737400"/>
            <a:ext cx="1887362" cy="6814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5565D80B-979A-4E9B-AA56-AD0C8B67055B}"/>
              </a:ext>
            </a:extLst>
          </p:cNvPr>
          <p:cNvSpPr txBox="1"/>
          <p:nvPr/>
        </p:nvSpPr>
        <p:spPr>
          <a:xfrm>
            <a:off x="2975805" y="2942439"/>
            <a:ext cx="4974182" cy="369332"/>
          </a:xfrm>
          <a:prstGeom prst="rect">
            <a:avLst/>
          </a:prstGeom>
          <a:noFill/>
        </p:spPr>
        <p:txBody>
          <a:bodyPr wrap="none" rtlCol="0">
            <a:spAutoFit/>
          </a:bodyPr>
          <a:lstStyle/>
          <a:p>
            <a:r>
              <a:rPr lang="en-US" dirty="0"/>
              <a:t>Tetra RX ADC Capture </a:t>
            </a:r>
            <a:r>
              <a:rPr lang="en-US" dirty="0" err="1"/>
              <a:t>fft</a:t>
            </a:r>
            <a:r>
              <a:rPr lang="en-US" dirty="0"/>
              <a:t> data file name description</a:t>
            </a:r>
          </a:p>
        </p:txBody>
      </p:sp>
      <p:pic>
        <p:nvPicPr>
          <p:cNvPr id="33" name="Picture 32">
            <a:extLst>
              <a:ext uri="{FF2B5EF4-FFF2-40B4-BE49-F238E27FC236}">
                <a16:creationId xmlns:a16="http://schemas.microsoft.com/office/drawing/2014/main" id="{2079AC24-42E4-4FAC-A6E0-A0B0636AFE83}"/>
              </a:ext>
            </a:extLst>
          </p:cNvPr>
          <p:cNvPicPr>
            <a:picLocks noChangeAspect="1"/>
          </p:cNvPicPr>
          <p:nvPr/>
        </p:nvPicPr>
        <p:blipFill>
          <a:blip r:embed="rId2"/>
          <a:stretch>
            <a:fillRect/>
          </a:stretch>
        </p:blipFill>
        <p:spPr>
          <a:xfrm>
            <a:off x="2657344" y="1869168"/>
            <a:ext cx="7934325" cy="552450"/>
          </a:xfrm>
          <a:prstGeom prst="rect">
            <a:avLst/>
          </a:prstGeom>
        </p:spPr>
      </p:pic>
      <p:sp>
        <p:nvSpPr>
          <p:cNvPr id="34" name="TextBox 33">
            <a:extLst>
              <a:ext uri="{FF2B5EF4-FFF2-40B4-BE49-F238E27FC236}">
                <a16:creationId xmlns:a16="http://schemas.microsoft.com/office/drawing/2014/main" id="{8569B4F2-6E28-4CF2-A0E3-B94D8B9954C6}"/>
              </a:ext>
            </a:extLst>
          </p:cNvPr>
          <p:cNvSpPr txBox="1"/>
          <p:nvPr/>
        </p:nvSpPr>
        <p:spPr>
          <a:xfrm>
            <a:off x="2908693" y="1258556"/>
            <a:ext cx="5843651" cy="369332"/>
          </a:xfrm>
          <a:prstGeom prst="rect">
            <a:avLst/>
          </a:prstGeom>
          <a:noFill/>
        </p:spPr>
        <p:txBody>
          <a:bodyPr wrap="none" rtlCol="0">
            <a:spAutoFit/>
          </a:bodyPr>
          <a:lstStyle/>
          <a:p>
            <a:r>
              <a:rPr lang="en-US" dirty="0"/>
              <a:t>Tetra RX ATE Test / ADC Capture results directory description</a:t>
            </a:r>
          </a:p>
        </p:txBody>
      </p:sp>
      <p:sp>
        <p:nvSpPr>
          <p:cNvPr id="35" name="TextBox 34">
            <a:extLst>
              <a:ext uri="{FF2B5EF4-FFF2-40B4-BE49-F238E27FC236}">
                <a16:creationId xmlns:a16="http://schemas.microsoft.com/office/drawing/2014/main" id="{5A0D180B-2BE1-47D9-9378-3D71681738EF}"/>
              </a:ext>
            </a:extLst>
          </p:cNvPr>
          <p:cNvSpPr txBox="1"/>
          <p:nvPr/>
        </p:nvSpPr>
        <p:spPr>
          <a:xfrm>
            <a:off x="370705" y="2098453"/>
            <a:ext cx="1961434" cy="323165"/>
          </a:xfrm>
          <a:prstGeom prst="rect">
            <a:avLst/>
          </a:prstGeom>
          <a:noFill/>
        </p:spPr>
        <p:txBody>
          <a:bodyPr wrap="none" rtlCol="0">
            <a:spAutoFit/>
          </a:bodyPr>
          <a:lstStyle/>
          <a:p>
            <a:r>
              <a:rPr lang="en-US" sz="1500" dirty="0"/>
              <a:t>Primary data result file</a:t>
            </a:r>
          </a:p>
        </p:txBody>
      </p:sp>
      <p:sp>
        <p:nvSpPr>
          <p:cNvPr id="36" name="TextBox 35">
            <a:extLst>
              <a:ext uri="{FF2B5EF4-FFF2-40B4-BE49-F238E27FC236}">
                <a16:creationId xmlns:a16="http://schemas.microsoft.com/office/drawing/2014/main" id="{76BAC0AC-C7CE-425D-BCA2-4B67221403EA}"/>
              </a:ext>
            </a:extLst>
          </p:cNvPr>
          <p:cNvSpPr txBox="1"/>
          <p:nvPr/>
        </p:nvSpPr>
        <p:spPr>
          <a:xfrm>
            <a:off x="370705" y="1869168"/>
            <a:ext cx="1907445" cy="323165"/>
          </a:xfrm>
          <a:prstGeom prst="rect">
            <a:avLst/>
          </a:prstGeom>
          <a:noFill/>
        </p:spPr>
        <p:txBody>
          <a:bodyPr wrap="none" rtlCol="0">
            <a:spAutoFit/>
          </a:bodyPr>
          <a:lstStyle/>
          <a:p>
            <a:r>
              <a:rPr lang="en-US" sz="1500" dirty="0"/>
              <a:t>ADC capture directory</a:t>
            </a:r>
          </a:p>
        </p:txBody>
      </p:sp>
      <p:cxnSp>
        <p:nvCxnSpPr>
          <p:cNvPr id="37" name="Straight Arrow Connector 36">
            <a:extLst>
              <a:ext uri="{FF2B5EF4-FFF2-40B4-BE49-F238E27FC236}">
                <a16:creationId xmlns:a16="http://schemas.microsoft.com/office/drawing/2014/main" id="{CEEADF85-0EC0-4517-BF83-548927767FF9}"/>
              </a:ext>
            </a:extLst>
          </p:cNvPr>
          <p:cNvCxnSpPr>
            <a:cxnSpLocks/>
            <a:stCxn id="36" idx="3"/>
          </p:cNvCxnSpPr>
          <p:nvPr/>
        </p:nvCxnSpPr>
        <p:spPr>
          <a:xfrm flipV="1">
            <a:off x="2278150" y="2027755"/>
            <a:ext cx="498605" cy="29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C74126A3-9CB1-4CE3-ADFB-3A56D8F1D47F}"/>
              </a:ext>
            </a:extLst>
          </p:cNvPr>
          <p:cNvCxnSpPr>
            <a:cxnSpLocks/>
          </p:cNvCxnSpPr>
          <p:nvPr/>
        </p:nvCxnSpPr>
        <p:spPr>
          <a:xfrm flipV="1">
            <a:off x="2278149" y="2240876"/>
            <a:ext cx="498605" cy="29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95143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3765</TotalTime>
  <Words>1160</Words>
  <Application>Microsoft Office PowerPoint</Application>
  <PresentationFormat>Widescreen</PresentationFormat>
  <Paragraphs>208</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Rage ATE</vt:lpstr>
      <vt:lpstr>Rage ATE</vt:lpstr>
      <vt:lpstr>Rage ATE</vt:lpstr>
      <vt:lpstr>PowerPoint Presentation</vt:lpstr>
      <vt:lpstr>PowerPoint Presentation</vt:lpstr>
      <vt:lpstr>PowerPoint Presentation</vt:lpstr>
      <vt:lpstr>PowerPoint Presentation</vt:lpstr>
      <vt:lpstr>PowerPoint Presentation</vt:lpstr>
      <vt:lpstr>PowerPoint Presentation</vt:lpstr>
      <vt:lpstr>Rage ATE</vt:lpstr>
      <vt:lpstr>Rage ATE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Rage ATE</dc:title>
  <dc:creator>Thomas Wattson</dc:creator>
  <cp:lastModifiedBy>Thomas Wattson</cp:lastModifiedBy>
  <cp:revision>23</cp:revision>
  <dcterms:created xsi:type="dcterms:W3CDTF">2019-02-18T14:08:23Z</dcterms:created>
  <dcterms:modified xsi:type="dcterms:W3CDTF">2021-09-28T13:37:48Z</dcterms:modified>
</cp:coreProperties>
</file>